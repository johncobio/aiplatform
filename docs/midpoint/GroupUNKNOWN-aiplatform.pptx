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ee1342e31843fd" /><Relationship Type="http://schemas.openxmlformats.org/officeDocument/2006/relationships/extended-properties" Target="/docProps/app.xml" Id="R38e9f85d2f8e407d" /><Relationship Type="http://schemas.openxmlformats.org/officeDocument/2006/relationships/officeDocument" Target="/ppt/presentation.xml" Id="R931e30af04094956" /></Relationships>
</file>

<file path=ppt/presentation.xml><?xml version="1.0" encoding="utf-8"?>
<p:presentation xmlns:p="http://schemas.openxmlformats.org/presentationml/2006/main">
  <p:sldMasterIdLst>
    <p:sldMasterId xmlns:r="http://schemas.openxmlformats.org/officeDocument/2006/relationships" id="2147483648" r:id="Ra182aab201e6457d"/>
  </p:sldMasterIdLst>
  <p:notesMasterIdLst>
    <p:notesMasterId xmlns:r="http://schemas.openxmlformats.org/officeDocument/2006/relationships" r:id="Ra123600a738242b7"/>
  </p:notesMasterIdLst>
  <p:sldIdLst>
    <p:sldId xmlns:r="http://schemas.openxmlformats.org/officeDocument/2006/relationships" id="256" r:id="R081a9ecfc79b44d9"/>
    <p:sldId xmlns:r="http://schemas.openxmlformats.org/officeDocument/2006/relationships" id="257" r:id="Rf661df203b2d469e"/>
    <p:sldId xmlns:r="http://schemas.openxmlformats.org/officeDocument/2006/relationships" id="258" r:id="R37f4029b17ae4559"/>
    <p:sldId xmlns:r="http://schemas.openxmlformats.org/officeDocument/2006/relationships" id="259" r:id="R3ba7537ef0bd44b3"/>
    <p:sldId xmlns:r="http://schemas.openxmlformats.org/officeDocument/2006/relationships" id="260" r:id="R8580c7eddc024747"/>
    <p:sldId xmlns:r="http://schemas.openxmlformats.org/officeDocument/2006/relationships" id="261" r:id="Ra9078bbd18944f43"/>
    <p:sldId xmlns:r="http://schemas.openxmlformats.org/officeDocument/2006/relationships" id="262" r:id="R1d682f5950eb4d88"/>
    <p:sldId xmlns:r="http://schemas.openxmlformats.org/officeDocument/2006/relationships" id="263" r:id="R8504f4afb0be4f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f66b5f84be4972" /><Relationship Type="http://schemas.openxmlformats.org/officeDocument/2006/relationships/slideMaster" Target="/ppt/slideMasters/slideMaster1.xml" Id="Ra182aab201e6457d" /><Relationship Type="http://schemas.openxmlformats.org/officeDocument/2006/relationships/notesMaster" Target="/ppt/notesMasters/notesMaster1.xml" Id="Ra123600a738242b7" /><Relationship Type="http://schemas.openxmlformats.org/officeDocument/2006/relationships/presProps" Target="/ppt/presProps.xml" Id="R95ce8e85dae848e7" /><Relationship Type="http://schemas.openxmlformats.org/officeDocument/2006/relationships/tableStyles" Target="/ppt/tableStyles.xml" Id="R3b95f5a5697b455c" /><Relationship Type="http://schemas.openxmlformats.org/officeDocument/2006/relationships/slide" Target="/ppt/slides/slide1.xml" Id="R081a9ecfc79b44d9" /><Relationship Type="http://schemas.openxmlformats.org/officeDocument/2006/relationships/slide" Target="/ppt/slides/slide2.xml" Id="Rf661df203b2d469e" /><Relationship Type="http://schemas.openxmlformats.org/officeDocument/2006/relationships/slide" Target="/ppt/slides/slide3.xml" Id="R37f4029b17ae4559" /><Relationship Type="http://schemas.openxmlformats.org/officeDocument/2006/relationships/slide" Target="/ppt/slides/slide4.xml" Id="R3ba7537ef0bd44b3" /><Relationship Type="http://schemas.openxmlformats.org/officeDocument/2006/relationships/slide" Target="/ppt/slides/slide5.xml" Id="R8580c7eddc024747" /><Relationship Type="http://schemas.openxmlformats.org/officeDocument/2006/relationships/slide" Target="/ppt/slides/slide6.xml" Id="Ra9078bbd18944f43" /><Relationship Type="http://schemas.openxmlformats.org/officeDocument/2006/relationships/slide" Target="/ppt/slides/slide7.xml" Id="R1d682f5950eb4d88" /><Relationship Type="http://schemas.openxmlformats.org/officeDocument/2006/relationships/slide" Target="/ppt/slides/slide8.xml" Id="R8504f4afb0be4f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38770e326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1334518f4845f3" /><Relationship Type="http://schemas.openxmlformats.org/officeDocument/2006/relationships/notesMaster" Target="/ppt/notesMasters/notesMaster1.xml" Id="R80f9934b89794a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24f0e40ba449b4" /><Relationship Type="http://schemas.openxmlformats.org/officeDocument/2006/relationships/notesMaster" Target="/ppt/notesMasters/notesMaster1.xml" Id="R4b379f5cacf0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88d3ace1654bc8" /><Relationship Type="http://schemas.openxmlformats.org/officeDocument/2006/relationships/notesMaster" Target="/ppt/notesMasters/notesMaster1.xml" Id="Rb609a085cf8d4a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e232a974a14159" /><Relationship Type="http://schemas.openxmlformats.org/officeDocument/2006/relationships/notesMaster" Target="/ppt/notesMasters/notesMaster1.xml" Id="R63fae9a3f2c142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861ff279014369" /><Relationship Type="http://schemas.openxmlformats.org/officeDocument/2006/relationships/notesMaster" Target="/ppt/notesMasters/notesMaster1.xml" Id="R5abda1ea6dd84f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b09f2c024c4781" /><Relationship Type="http://schemas.openxmlformats.org/officeDocument/2006/relationships/notesMaster" Target="/ppt/notesMasters/notesMaster1.xml" Id="Rddd9bfc708fd4a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08d2ff0e1a4615" /><Relationship Type="http://schemas.openxmlformats.org/officeDocument/2006/relationships/notesMaster" Target="/ppt/notesMasters/notesMaster1.xml" Id="Rb73c9dcbdd0e43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b1e527678e4ae2" /><Relationship Type="http://schemas.openxmlformats.org/officeDocument/2006/relationships/notesMaster" Target="/ppt/notesMasters/notesMaster1.xml" Id="Re45f651f2a2248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(25 seconds)</a:t>
            </a:r>
          </a:p>
          <a:p xmlns:a="http://schemas.openxmlformats.org/drawingml/2006/main">
            <a:r>
              <a:t/>
            </a:r>
          </a:p>
          <a:p xmlns:a="http://schemas.openxmlformats.org/drawingml/2006/main">
            <a:r>
              <a:t>My project is aiplatform, a self-service infrastructure platform for open-source model workloads. I am John Cobio. The goal is to give a developer a small configuration file and a repeatable path to deployment, health checks, and operational metrics. Today I will show the implemented prototype, evidence from tests and experiments, and the next cloud milestone.</a:t>
            </a:r>
          </a:p>
          <a:p xmlns:a="http://schemas.openxmlformats.org/drawingml/2006/main">
            <a:r>
              <a:t/>
            </a:r>
          </a:p>
          <a:p xmlns:a="http://schemas.openxmlformats.org/drawingml/2006/main">
            <a:r>
              <a:t>Sources/evidence:</a:t>
            </a:r>
          </a:p>
          <a:p xmlns:a="http://schemas.openxmlformats.org/drawingml/2006/main">
            <a:r>
              <a:t>README.md; docs/ARCHITECTURE.md. Group number needs confirmation for the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 (35 seconds)</a:t>
            </a:r>
          </a:p>
          <a:p xmlns:a="http://schemas.openxmlformats.org/drawingml/2006/main">
            <a:r>
              <a:t/>
            </a:r>
          </a:p>
          <a:p xmlns:a="http://schemas.openxmlformats.org/drawingml/2006/main">
            <a:r>
              <a:t>The problem is the repeated infrastructure work around model serving. A model needs enough memory, an inference engine, storage for its weights, and a way to reach it. This YAML names the model, engine and resource budget. The CLI validates those choices and drives the deployment. The product is the deployment workflow and its operating signals. The language model is a workload the platform manages.</a:t>
            </a:r>
          </a:p>
          <a:p xmlns:a="http://schemas.openxmlformats.org/drawingml/2006/main">
            <a:r>
              <a:t/>
            </a:r>
          </a:p>
          <a:p xmlns:a="http://schemas.openxmlformats.org/drawingml/2006/main">
            <a:r>
              <a:t>Sources/evidence:</a:t>
            </a:r>
          </a:p>
          <a:p xmlns:a="http://schemas.openxmlformats.org/drawingml/2006/main">
            <a:r>
              <a:t>services/qwen-server/aiplatform.yaml; cli/src/aiplatform/config/schema.py; cli/src/aiplatform/targets/kind.py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1:00–1:50 (50 seconds)</a:t>
            </a:r>
          </a:p>
          <a:p xmlns:a="http://schemas.openxmlformats.org/drawingml/2006/main">
            <a:r>
              <a:t/>
            </a:r>
          </a:p>
          <a:p xmlns:a="http://schemas.openxmlformats.org/drawingml/2006/main">
            <a:r>
              <a:t>This is the implemented prototype architecture. GitHub Actions runs validation and publishes images to GHCR. Locally, the CLI can deploy directly with Helm or commit desired state for Argo CD to reconcile. Ingress routes requests to an inference pod, which caches model weights on a persistent volume. Prometheus and Grafana expose performance and resource use. The built-in service also exports OpenTelemetry traces to Jaeger. These components have run locally, but Docker is currently stopped on the audit machine, so a live endpoint must be rechecked before the recording.</a:t>
            </a:r>
          </a:p>
          <a:p xmlns:a="http://schemas.openxmlformats.org/drawingml/2006/main">
            <a:r>
              <a:t/>
            </a:r>
          </a:p>
          <a:p xmlns:a="http://schemas.openxmlformats.org/drawingml/2006/main">
            <a:r>
              <a:t>Sources/evidence:</a:t>
            </a:r>
          </a:p>
          <a:p xmlns:a="http://schemas.openxmlformats.org/drawingml/2006/main">
            <a:r>
              <a:t>docs/ARCHITECTURE.md; .github/workflows/ci.yml; .github/workflows/build-image.yml; deploy/helm/llm-workload/; prototype runtime evidence in docs/benchmarks/2026-09-16-v4-observability-baseline.md.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1:50–2:35 (45 seconds)</a:t>
            </a:r>
          </a:p>
          <a:p xmlns:a="http://schemas.openxmlformats.org/drawingml/2006/main">
            <a:r>
              <a:t/>
            </a:r>
          </a:p>
          <a:p xmlns:a="http://schemas.openxmlformats.org/drawingml/2006/main">
            <a:r>
              <a:t>The next cloud milestone is deliberately small: an EC2 instance serving a real model, in a public subnet, with a security group limited to my IP and encrypted EBS for the cache. The inspected Academy sandbox restricts IAM to read-only, supports t2 and t3 instances, and requires gp2 storage. ECR and EKS are not listed among its supported services, so the first cloud demo would pull the existing public image from GHCR. This slide shows a plan, not a completed deployment. I will replace that status only after a successful cloud inference request.</a:t>
            </a:r>
          </a:p>
          <a:p xmlns:a="http://schemas.openxmlformats.org/drawingml/2006/main">
            <a:r>
              <a:t/>
            </a:r>
          </a:p>
          <a:p xmlns:a="http://schemas.openxmlformats.org/drawingml/2006/main">
            <a:r>
              <a:t>Sources/evidence:</a:t>
            </a:r>
          </a:p>
          <a:p xmlns:a="http://schemas.openxmlformats.org/drawingml/2006/main">
            <a:r>
              <a:t>Academy Cloud Architecting 3 Sandbox instructions viewed October 15, 2026; docs/midpoint/CLOUD_SETUP.md. Pricing reference https://aws.amazon.com/vpc/pricing/ and https://aws.amazon.com/eks/pricing/.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2:35–3:20 (45 seconds)</a:t>
            </a:r>
          </a:p>
          <a:p xmlns:a="http://schemas.openxmlformats.org/drawingml/2006/main">
            <a:r>
              <a:t/>
            </a:r>
          </a:p>
          <a:p xmlns:a="http://schemas.openxmlformats.org/drawingml/2006/main">
            <a:r>
              <a:t>The platform has automation beyond the inference endpoint. The fresh audit passed 112 CLI and 14 service tests. Terraform formatting and validation, chart render checks, and policy suites also passed. I found that the most recent remote CI run failed a new Checkov rule because the availability-zone lookup was unfiltered. The repair pins the zone identities and passes the local scan. The lesson is to verify the current pipeline rather than rely on an old green badge. Terraform validation is still distinct from proving a cloud apply.</a:t>
            </a:r>
          </a:p>
          <a:p xmlns:a="http://schemas.openxmlformats.org/drawingml/2006/main">
            <a:r>
              <a:t/>
            </a:r>
          </a:p>
          <a:p xmlns:a="http://schemas.openxmlformats.org/drawingml/2006/main">
            <a:r>
              <a:t>Sources/evidence:</a:t>
            </a:r>
          </a:p>
          <a:p xmlns:a="http://schemas.openxmlformats.org/drawingml/2006/main">
            <a:r>
              <a:t>October 15 make check: 112 CLI + 14 service tests, six Terraform checks, chart checks and policy checks; Checkov reproduced CKV_AWS_394 then passed 83 checks after explicit zone-name filter. Latest inspected run https://github.com/johncobio/aiplatform/actions/runs/35232704084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3:20–4:00 (40 seconds)</a:t>
            </a:r>
          </a:p>
          <a:p xmlns:a="http://schemas.openxmlformats.org/drawingml/2006/main">
            <a:r>
              <a:t/>
            </a:r>
          </a:p>
          <a:p xmlns:a="http://schemas.openxmlformats.org/drawingml/2006/main">
            <a:r>
              <a:t>These are recorded local experiments from September 16. With the Qwen 0.5B model, two CPU threads and one virtual user, the upstream llama.cpp server produced 47.6 completion tokens per second and a P95 response latency of 0.80 seconds. The built-in service recorded 16.4 tokens per second. The engine builds and serving setup differ, so this is an observed comparison, not proof that one specific optimisation caused the gap. A separate pod-deletion experiment measured endpoint recovery at 12.5 seconds.</a:t>
            </a:r>
          </a:p>
          <a:p xmlns:a="http://schemas.openxmlformats.org/drawingml/2006/main">
            <a:r>
              <a:t/>
            </a:r>
          </a:p>
          <a:p xmlns:a="http://schemas.openxmlformats.org/drawingml/2006/main">
            <a:r>
              <a:t>Sources/evidence:</a:t>
            </a:r>
          </a:p>
          <a:p xmlns:a="http://schemas.openxmlformats.org/drawingml/2006/main">
            <a:r>
              <a:t>docs/benchmarks/2026-09-16-v6-engines.md; docs/benchmarks/2026-09-16-v8-reliability.md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4:00–4:35 (35 seconds)</a:t>
            </a:r>
          </a:p>
          <a:p xmlns:a="http://schemas.openxmlformats.org/drawingml/2006/main">
            <a:r>
              <a:t/>
            </a:r>
          </a:p>
          <a:p xmlns:a="http://schemas.openxmlformats.org/drawingml/2006/main">
            <a:r>
              <a:t>The main challenge has been resource pressure on an eight-gigabyte laptop, so the demo uses one workload and pauses unused add-ons. Academy permissions are another constraint, which is why EC2 is the immediate cloud milestone. The reliability work found an ingress blind spot that needs an external probe. EKS, GPU inference, and the live proposal provider remain unverified. After feedback I will prioritise cloud automation and repeat the load and recovery measurements in the selected account. The final deadline still needs confirmation.</a:t>
            </a:r>
          </a:p>
          <a:p xmlns:a="http://schemas.openxmlformats.org/drawingml/2006/main">
            <a:r>
              <a:t/>
            </a:r>
          </a:p>
          <a:p xmlns:a="http://schemas.openxmlformats.org/drawingml/2006/main">
            <a:r>
              <a:t>Sources/evidence:</a:t>
            </a:r>
          </a:p>
          <a:p xmlns:a="http://schemas.openxmlformats.org/drawingml/2006/main">
            <a:r>
              <a:t>PROJECT_STATUS.md; docs/RELIABILITY.md; docs/benchmarks/2026-09-16-v8-reliability.md; Academy Sandbox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4:35–5:00 (25 seconds)</a:t>
            </a:r>
          </a:p>
          <a:p xmlns:a="http://schemas.openxmlformats.org/drawingml/2006/main">
            <a:r>
              <a:t/>
            </a:r>
          </a:p>
          <a:p xmlns:a="http://schemas.openxmlformats.org/drawingml/2006/main">
            <a:r>
              <a:t>The accompanying demo shows the configuration, validation, an actual model response, and operational evidence. It also shows a rejected policy proposal using the file provider, so the approval guardrails are visible without claiming that a live AI call generated the proposal. The repository is public for review. I would especially welcome feedback on which final milestone matters most: EKS deployment, cloud automation, or deeper reliability measurements.</a:t>
            </a:r>
          </a:p>
          <a:p xmlns:a="http://schemas.openxmlformats.org/drawingml/2006/main">
            <a:r>
              <a:t/>
            </a:r>
          </a:p>
          <a:p xmlns:a="http://schemas.openxmlformats.org/drawingml/2006/main">
            <a:r>
              <a:t>Sources/evidence:</a:t>
            </a:r>
          </a:p>
          <a:p xmlns:a="http://schemas.openxmlformats.org/drawingml/2006/main">
            <a:r>
              <a:t>docs/midpoint/DEMO_WALKTHROUGH.md; examples/proposals/rejected-nat-gateway.json.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df1adfb7a143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de3a13258e4c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5240151a294b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2f269c2b7d40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17722e3ced40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675398e8e841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19A723-E34B-4493-ACFB-85A529793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837483-8C04-40EC-979E-BB5641B86C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BCD7E9-6A46-4C73-BD09-8930CDFDF3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DA91AB-CE2B-429D-BC4B-921CDAF3E7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B92451-F5E1-46FE-BE4B-3E8750858A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C7BF43-DCC8-47E3-BA89-7EF47844A5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4D73DF-8C10-4F0C-9DA8-EC4774932C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D581D7-9148-49B3-87FC-4E74BC4D6E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7A6CE-19DE-41D0-9BE8-2B49B37E92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7F775D-AB11-4940-ACB9-FCADC34BA0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5eb98fc204c98" /><Relationship Type="http://schemas.openxmlformats.org/officeDocument/2006/relationships/slideLayout" Target="/ppt/slideLayouts/slideLayout1.xml" Id="Rf2034de594934cac" /><Relationship Type="http://schemas.openxmlformats.org/officeDocument/2006/relationships/slideLayout" Target="/ppt/slideLayouts/slideLayout2.xml" Id="Rd286546e8350490c" /><Relationship Type="http://schemas.openxmlformats.org/officeDocument/2006/relationships/slideLayout" Target="/ppt/slideLayouts/slideLayout3.xml" Id="Rc09775e50faf45af" /><Relationship Type="http://schemas.openxmlformats.org/officeDocument/2006/relationships/slideLayout" Target="/ppt/slideLayouts/slideLayout4.xml" Id="R0e8f867e76c348cf" /><Relationship Type="http://schemas.openxmlformats.org/officeDocument/2006/relationships/slideLayout" Target="/ppt/slideLayouts/slideLayout5.xml" Id="Rfa4507ea1f3d41d3" /><Relationship Type="http://schemas.openxmlformats.org/officeDocument/2006/relationships/slideLayout" Target="/ppt/slideLayouts/slideLayout6.xml" Id="R9b9e61ab405846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034de594934cac"/>
    <p:sldLayoutId xmlns:r="http://schemas.openxmlformats.org/officeDocument/2006/relationships" id="2147483650" r:id="Rd286546e8350490c"/>
    <p:sldLayoutId xmlns:r="http://schemas.openxmlformats.org/officeDocument/2006/relationships" id="2147483651" r:id="Rc09775e50faf45af"/>
    <p:sldLayoutId xmlns:r="http://schemas.openxmlformats.org/officeDocument/2006/relationships" id="2147483652" r:id="R0e8f867e76c348cf"/>
    <p:sldLayoutId xmlns:r="http://schemas.openxmlformats.org/officeDocument/2006/relationships" id="2147483653" r:id="Rfa4507ea1f3d41d3"/>
    <p:sldLayoutId xmlns:r="http://schemas.openxmlformats.org/officeDocument/2006/relationships" id="2147483654" r:id="R9b9e61ab405846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03ff4d0b334c2a" /><Relationship Type="http://schemas.openxmlformats.org/officeDocument/2006/relationships/notesSlide" Target="/ppt/notesSlides/notesSlide1.xml" Id="R9ec8f0f3d5b2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0db8a5be574ffe" /><Relationship Type="http://schemas.openxmlformats.org/officeDocument/2006/relationships/notesSlide" Target="/ppt/notesSlides/notesSlide2.xml" Id="R03b2e2d86f5f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83d005d5a148c5" /><Relationship Type="http://schemas.openxmlformats.org/officeDocument/2006/relationships/notesSlide" Target="/ppt/notesSlides/notesSlide3.xml" Id="Rdfd30cf10805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125b5d4e2a4c99" /><Relationship Type="http://schemas.openxmlformats.org/officeDocument/2006/relationships/notesSlide" Target="/ppt/notesSlides/notesSlide4.xml" Id="Rc4e05fba5db749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04d2743ad741a1" /><Relationship Type="http://schemas.openxmlformats.org/officeDocument/2006/relationships/notesSlide" Target="/ppt/notesSlides/notesSlide5.xml" Id="Rffa9dbf3db6542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de9d83bdde4118" /><Relationship Type="http://schemas.openxmlformats.org/officeDocument/2006/relationships/chart" Target="/ppt/slides/charts/chart1.xml" Id="Rb3cdce87cf6f4a08" /><Relationship Type="http://schemas.openxmlformats.org/officeDocument/2006/relationships/notesSlide" Target="/ppt/notesSlides/notesSlide6.xml" Id="R3c6d5655c1174d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cdaf445fc940e8" /><Relationship Type="http://schemas.openxmlformats.org/officeDocument/2006/relationships/notesSlide" Target="/ppt/notesSlides/notesSlide7.xml" Id="R3b1a33fbf8444c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ef123309d044202" /><Relationship Type="http://schemas.openxmlformats.org/officeDocument/2006/relationships/notesSlide" Target="/ppt/notesSlides/notesSlide8.xml" Id="Rd94e46db9d3545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Completion tokens/s</c:v>
          </c:tx>
          <c:spPr>
            <a:solidFill xmlns:a="http://schemas.openxmlformats.org/drawingml/2006/main">
              <a:srgbClr val="087E70"/>
            </a:solidFill>
          </c:spPr>
          <c:invertIfNegative val="0"/>
          <c:cat>
            <c:strRef>
              <c:f>'Chart Data'!$A$2:$A$3</c:f>
              <c:strCache>
                <c:ptCount val="2"/>
                <c:pt idx="0">
                  <c:v>Built-in service</c:v>
                </c:pt>
                <c:pt idx="1">
                  <c:v>Upstream llama.cpp</c:v>
                </c:pt>
              </c:strCache>
            </c:strRef>
          </c:cat>
          <c:val>
            <c:numRef>
              <c:f>'Chart Data'!$B$2:$B$3</c:f>
              <c:numCache>
                <c:formatCode>General</c:formatCode>
                <c:ptCount val="2"/>
                <c:pt idx="0">
                  <c:v>16.4</c:v>
                </c:pt>
                <c:pt idx="1">
                  <c:v>47.6</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A3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3BEFDC-749A-4239-9C55-12FE49A207FF}"/>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aiplatform</a:t>
            </a:r>
          </a:p>
        </p:txBody>
      </p:sp>
      <p:sp>
        <p:nvSpPr>
          <p:cNvPr id="2" name="">
            <a:extLst xmlns:a="http://schemas.openxmlformats.org/drawingml/2006/main">
              <a:ext uri="{FF2B5EF4-FFF2-40B4-BE49-F238E27FC236}">
                <a16:creationId xmlns:a16="http://schemas.microsoft.com/office/drawing/2014/main" id="{6FC1BDDA-BEB8-46A7-8E63-EBA345309B7C}"/>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7CDC9"/>
                </a:solidFill>
                <a:latin typeface="Arial"/>
                <a:ea typeface="Arial"/>
                <a:cs typeface="Arial"/>
              </a:defRPr>
            </a:defPPr>
          </a:lstStyle>
          <a:p xmlns:a="http://schemas.openxmlformats.org/drawingml/2006/main">
            <a:pPr>
              <a:defRPr sz="1200" b="0">
                <a:solidFill>
                  <a:srgbClr val="B7CDC9"/>
                </a:solidFill>
                <a:latin typeface="Arial"/>
                <a:ea typeface="Arial"/>
                <a:cs typeface="Arial"/>
              </a:defRPr>
            </a:pPr>
            <a:r>
              <a:rPr sz="1200" b="0">
                <a:solidFill>
                  <a:srgbClr val="B7CDC9"/>
                </a:solidFill>
                <a:latin typeface="Arial"/>
                <a:ea typeface="Arial"/>
                <a:cs typeface="Arial"/>
              </a:rPr>
              <a:t>1 / 8</a:t>
            </a:r>
          </a:p>
        </p:txBody>
      </p:sp>
      <p:sp>
        <p:nvSpPr>
          <p:cNvPr id="3" name="">
            <a:extLst xmlns:a="http://schemas.openxmlformats.org/drawingml/2006/main">
              <a:ext uri="{FF2B5EF4-FFF2-40B4-BE49-F238E27FC236}">
                <a16:creationId xmlns:a16="http://schemas.microsoft.com/office/drawing/2014/main" id="{C3FF1326-0B7D-4AA8-BF2E-8FEE13FC3D9F}"/>
              </a:ext>
            </a:extLst>
          </p:cNvPr>
          <p:cNvSpPr>
            <a:spLocks xmlns:a="http://schemas.openxmlformats.org/drawingml/2006/main" noGrp="1"/>
          </p:cNvSpPr>
          <p:nvPr/>
        </p:nvSpPr>
        <p:spPr>
          <a:xfrm xmlns:a="http://schemas.openxmlformats.org/drawingml/2006/main">
            <a:off x="609600" y="190500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Self-service AI infrastructure</a:t>
            </a:r>
          </a:p>
        </p:txBody>
      </p:sp>
      <p:sp>
        <p:nvSpPr>
          <p:cNvPr id="4" name="">
            <a:extLst xmlns:a="http://schemas.openxmlformats.org/drawingml/2006/main">
              <a:ext uri="{FF2B5EF4-FFF2-40B4-BE49-F238E27FC236}">
                <a16:creationId xmlns:a16="http://schemas.microsoft.com/office/drawing/2014/main" id="{3D5B463A-1FD3-4C73-9A97-571F20E507F7}"/>
              </a:ext>
            </a:extLst>
          </p:cNvPr>
          <p:cNvSpPr>
            <a:spLocks xmlns:a="http://schemas.openxmlformats.org/drawingml/2006/main" noGrp="1"/>
          </p:cNvSpPr>
          <p:nvPr/>
        </p:nvSpPr>
        <p:spPr>
          <a:xfrm xmlns:a="http://schemas.openxmlformats.org/drawingml/2006/main">
            <a:off x="647700" y="3286125"/>
            <a:ext cx="685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5E7E1"/>
                </a:solidFill>
                <a:latin typeface="Arial"/>
                <a:ea typeface="Arial"/>
                <a:cs typeface="Arial"/>
              </a:defRPr>
            </a:defPPr>
          </a:lstStyle>
          <a:p xmlns:a="http://schemas.openxmlformats.org/drawingml/2006/main">
            <a:pPr>
              <a:defRPr sz="2175" b="0">
                <a:solidFill>
                  <a:srgbClr val="D5E7E1"/>
                </a:solidFill>
                <a:latin typeface="Arial"/>
                <a:ea typeface="Arial"/>
                <a:cs typeface="Arial"/>
              </a:defRPr>
            </a:pPr>
            <a:r>
              <a:rPr sz="2175" b="0">
                <a:solidFill>
                  <a:srgbClr val="D5E7E1"/>
                </a:solidFill>
                <a:latin typeface="Arial"/>
                <a:ea typeface="Arial"/>
                <a:cs typeface="Arial"/>
              </a:rPr>
              <a:t>Midpoint evaluation</a:t>
            </a:r>
          </a:p>
          <a:p xmlns:a="http://schemas.openxmlformats.org/drawingml/2006/main">
            <a:pPr>
              <a:defRPr sz="2175" b="0">
                <a:solidFill>
                  <a:srgbClr val="D5E7E1"/>
                </a:solidFill>
                <a:latin typeface="Arial"/>
                <a:ea typeface="Arial"/>
                <a:cs typeface="Arial"/>
              </a:defRPr>
            </a:pPr>
            <a:r>
              <a:rPr sz="2175" b="0">
                <a:solidFill>
                  <a:srgbClr val="D5E7E1"/>
                </a:solidFill>
                <a:latin typeface="Arial"/>
                <a:ea typeface="Arial"/>
                <a:cs typeface="Arial"/>
              </a:rPr>
              <a:t>John Cobio</a:t>
            </a:r>
          </a:p>
        </p:txBody>
      </p:sp>
      <p:sp>
        <p:nvSpPr>
          <p:cNvPr id="5" name="">
            <a:extLst xmlns:a="http://schemas.openxmlformats.org/drawingml/2006/main">
              <a:ext uri="{FF2B5EF4-FFF2-40B4-BE49-F238E27FC236}">
                <a16:creationId xmlns:a16="http://schemas.microsoft.com/office/drawing/2014/main" id="{F6C48C97-74D8-418F-BDA5-A098524C1B5A}"/>
              </a:ext>
            </a:extLst>
          </p:cNvPr>
          <p:cNvSpPr>
            <a:spLocks xmlns:a="http://schemas.openxmlformats.org/drawingml/2006/main" noGrp="1"/>
          </p:cNvSpPr>
          <p:nvPr/>
        </p:nvSpPr>
        <p:spPr>
          <a:xfrm xmlns:a="http://schemas.openxmlformats.org/drawingml/2006/main">
            <a:off x="647700" y="4810125"/>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5E7E1"/>
                </a:solidFill>
                <a:latin typeface="Arial"/>
                <a:ea typeface="Arial"/>
                <a:cs typeface="Arial"/>
              </a:defRPr>
            </a:defPPr>
          </a:lstStyle>
          <a:p xmlns:a="http://schemas.openxmlformats.org/drawingml/2006/main">
            <a:pPr>
              <a:defRPr sz="2250" b="0">
                <a:solidFill>
                  <a:srgbClr val="D5E7E1"/>
                </a:solidFill>
                <a:latin typeface="Arial"/>
                <a:ea typeface="Arial"/>
                <a:cs typeface="Arial"/>
              </a:defRPr>
            </a:pPr>
            <a:r>
              <a:rPr sz="2250" b="0">
                <a:solidFill>
                  <a:srgbClr val="D5E7E1"/>
                </a:solidFill>
                <a:latin typeface="Arial"/>
                <a:ea typeface="Arial"/>
                <a:cs typeface="Arial"/>
              </a:rPr>
              <a:t>A workload configuration becomes a running</a:t>
            </a:r>
          </a:p>
          <a:p xmlns:a="http://schemas.openxmlformats.org/drawingml/2006/main">
            <a:pPr>
              <a:defRPr sz="2250" b="0">
                <a:solidFill>
                  <a:srgbClr val="D5E7E1"/>
                </a:solidFill>
                <a:latin typeface="Arial"/>
                <a:ea typeface="Arial"/>
                <a:cs typeface="Arial"/>
              </a:defRPr>
            </a:pPr>
            <a:r>
              <a:rPr sz="2250" b="0">
                <a:solidFill>
                  <a:srgbClr val="D5E7E1"/>
                </a:solidFill>
                <a:latin typeface="Arial"/>
                <a:ea typeface="Arial"/>
                <a:cs typeface="Arial"/>
              </a:rPr>
              <a:t>open-source model with operational visibility.</a:t>
            </a:r>
          </a:p>
        </p:txBody>
      </p:sp>
    </p:spTree>
    <p:extLst>
      <p:ext uri="{BB962C8B-B14F-4D97-AF65-F5344CB8AC3E}">
        <p14:creationId xmlns:p14="http://schemas.microsoft.com/office/powerpoint/2010/main" val="1547970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845588-3337-47EA-9916-3969FF6AEEA8}"/>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Problem and developer experience</a:t>
            </a:r>
          </a:p>
        </p:txBody>
      </p:sp>
      <p:sp>
        <p:nvSpPr>
          <p:cNvPr id="2" name="">
            <a:extLst xmlns:a="http://schemas.openxmlformats.org/drawingml/2006/main">
              <a:ext uri="{FF2B5EF4-FFF2-40B4-BE49-F238E27FC236}">
                <a16:creationId xmlns:a16="http://schemas.microsoft.com/office/drawing/2014/main" id="{5C266BF5-F474-4100-87E2-9001FA92B581}"/>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2 / 8</a:t>
            </a:r>
          </a:p>
        </p:txBody>
      </p:sp>
      <p:sp>
        <p:nvSpPr>
          <p:cNvPr id="3" name="">
            <a:extLst xmlns:a="http://schemas.openxmlformats.org/drawingml/2006/main">
              <a:ext uri="{FF2B5EF4-FFF2-40B4-BE49-F238E27FC236}">
                <a16:creationId xmlns:a16="http://schemas.microsoft.com/office/drawing/2014/main" id="{BE18773A-D66F-4AE3-A6AB-C6BF55836E7A}"/>
              </a:ext>
            </a:extLst>
          </p:cNvPr>
          <p:cNvSpPr>
            <a:spLocks xmlns:a="http://schemas.openxmlformats.org/drawingml/2006/main" noGrp="1"/>
          </p:cNvSpPr>
          <p:nvPr/>
        </p:nvSpPr>
        <p:spPr>
          <a:xfrm xmlns:a="http://schemas.openxmlformats.org/drawingml/2006/main">
            <a:off x="609600" y="1790700"/>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Repeated infrastructure setup</a:t>
            </a:r>
          </a:p>
        </p:txBody>
      </p:sp>
      <p:sp>
        <p:nvSpPr>
          <p:cNvPr id="4" name="">
            <a:extLst xmlns:a="http://schemas.openxmlformats.org/drawingml/2006/main">
              <a:ext uri="{FF2B5EF4-FFF2-40B4-BE49-F238E27FC236}">
                <a16:creationId xmlns:a16="http://schemas.microsoft.com/office/drawing/2014/main" id="{CA05FED1-850D-43E7-8DB0-1A66085233D9}"/>
              </a:ext>
            </a:extLst>
          </p:cNvPr>
          <p:cNvSpPr>
            <a:spLocks xmlns:a="http://schemas.openxmlformats.org/drawingml/2006/main" noGrp="1"/>
          </p:cNvSpPr>
          <p:nvPr/>
        </p:nvSpPr>
        <p:spPr>
          <a:xfrm xmlns:a="http://schemas.openxmlformats.org/drawingml/2006/main">
            <a:off x="609600" y="2143125"/>
            <a:ext cx="5410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Model storage, resources and networking differ across deployments.</a:t>
            </a:r>
          </a:p>
        </p:txBody>
      </p:sp>
      <p:sp>
        <p:nvSpPr>
          <p:cNvPr id="5" name="">
            <a:extLst xmlns:a="http://schemas.openxmlformats.org/drawingml/2006/main">
              <a:ext uri="{FF2B5EF4-FFF2-40B4-BE49-F238E27FC236}">
                <a16:creationId xmlns:a16="http://schemas.microsoft.com/office/drawing/2014/main" id="{DE63F610-AF89-46B8-86AA-3BDD8E37C171}"/>
              </a:ext>
            </a:extLst>
          </p:cNvPr>
          <p:cNvSpPr>
            <a:spLocks xmlns:a="http://schemas.openxmlformats.org/drawingml/2006/main" noGrp="1"/>
          </p:cNvSpPr>
          <p:nvPr/>
        </p:nvSpPr>
        <p:spPr>
          <a:xfrm xmlns:a="http://schemas.openxmlformats.org/drawingml/2006/main">
            <a:off x="609600" y="3009900"/>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One workload definition</a:t>
            </a:r>
          </a:p>
        </p:txBody>
      </p:sp>
      <p:sp>
        <p:nvSpPr>
          <p:cNvPr id="6" name="">
            <a:extLst xmlns:a="http://schemas.openxmlformats.org/drawingml/2006/main">
              <a:ext uri="{FF2B5EF4-FFF2-40B4-BE49-F238E27FC236}">
                <a16:creationId xmlns:a16="http://schemas.microsoft.com/office/drawing/2014/main" id="{DD38F1A6-18ED-42A2-B2C0-AEC4C57AC27D}"/>
              </a:ext>
            </a:extLst>
          </p:cNvPr>
          <p:cNvSpPr>
            <a:spLocks xmlns:a="http://schemas.openxmlformats.org/drawingml/2006/main" noGrp="1"/>
          </p:cNvSpPr>
          <p:nvPr/>
        </p:nvSpPr>
        <p:spPr>
          <a:xfrm xmlns:a="http://schemas.openxmlformats.org/drawingml/2006/main">
            <a:off x="609600" y="3362325"/>
            <a:ext cx="5410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The platform validates the model and its resource requirements.</a:t>
            </a:r>
          </a:p>
        </p:txBody>
      </p:sp>
      <p:sp>
        <p:nvSpPr>
          <p:cNvPr id="7" name="">
            <a:extLst xmlns:a="http://schemas.openxmlformats.org/drawingml/2006/main">
              <a:ext uri="{FF2B5EF4-FFF2-40B4-BE49-F238E27FC236}">
                <a16:creationId xmlns:a16="http://schemas.microsoft.com/office/drawing/2014/main" id="{BD4C3444-5583-4767-B822-6D5D3DD53E09}"/>
              </a:ext>
            </a:extLst>
          </p:cNvPr>
          <p:cNvSpPr>
            <a:spLocks xmlns:a="http://schemas.openxmlformats.org/drawingml/2006/main" noGrp="1"/>
          </p:cNvSpPr>
          <p:nvPr/>
        </p:nvSpPr>
        <p:spPr>
          <a:xfrm xmlns:a="http://schemas.openxmlformats.org/drawingml/2006/main">
            <a:off x="609600" y="4229100"/>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Repeatable operations</a:t>
            </a:r>
          </a:p>
        </p:txBody>
      </p:sp>
      <p:sp>
        <p:nvSpPr>
          <p:cNvPr id="8" name="">
            <a:extLst xmlns:a="http://schemas.openxmlformats.org/drawingml/2006/main">
              <a:ext uri="{FF2B5EF4-FFF2-40B4-BE49-F238E27FC236}">
                <a16:creationId xmlns:a16="http://schemas.microsoft.com/office/drawing/2014/main" id="{FD4A2894-1F2C-4A46-AAAF-72A767FD87F1}"/>
              </a:ext>
            </a:extLst>
          </p:cNvPr>
          <p:cNvSpPr>
            <a:spLocks xmlns:a="http://schemas.openxmlformats.org/drawingml/2006/main" noGrp="1"/>
          </p:cNvSpPr>
          <p:nvPr/>
        </p:nvSpPr>
        <p:spPr>
          <a:xfrm xmlns:a="http://schemas.openxmlformats.org/drawingml/2006/main">
            <a:off x="609600" y="4581525"/>
            <a:ext cx="5410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Deploy, inspect health, read logs and roll back through a CLI.</a:t>
            </a:r>
          </a:p>
        </p:txBody>
      </p:sp>
      <p:sp>
        <p:nvSpPr>
          <p:cNvPr id="9" name="">
            <a:extLst xmlns:a="http://schemas.openxmlformats.org/drawingml/2006/main">
              <a:ext uri="{FF2B5EF4-FFF2-40B4-BE49-F238E27FC236}">
                <a16:creationId xmlns:a16="http://schemas.microsoft.com/office/drawing/2014/main" id="{10C6A1DC-35A0-4ED8-91C1-697D199BF081}"/>
              </a:ext>
            </a:extLst>
          </p:cNvPr>
          <p:cNvSpPr>
            <a:spLocks xmlns:a="http://schemas.openxmlformats.org/drawingml/2006/main" noGrp="1"/>
          </p:cNvSpPr>
          <p:nvPr/>
        </p:nvSpPr>
        <p:spPr>
          <a:xfrm xmlns:a="http://schemas.openxmlformats.org/drawingml/2006/main">
            <a:off x="6667500" y="1762125"/>
            <a:ext cx="4895850" cy="3476625"/>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10" name="">
            <a:extLst xmlns:a="http://schemas.openxmlformats.org/drawingml/2006/main">
              <a:ext uri="{FF2B5EF4-FFF2-40B4-BE49-F238E27FC236}">
                <a16:creationId xmlns:a16="http://schemas.microsoft.com/office/drawing/2014/main" id="{425BCA47-67C4-412C-8D9C-F2BED9FC25E2}"/>
              </a:ext>
            </a:extLst>
          </p:cNvPr>
          <p:cNvSpPr>
            <a:spLocks xmlns:a="http://schemas.openxmlformats.org/drawingml/2006/main" noGrp="1"/>
          </p:cNvSpPr>
          <p:nvPr/>
        </p:nvSpPr>
        <p:spPr>
          <a:xfrm xmlns:a="http://schemas.openxmlformats.org/drawingml/2006/main">
            <a:off x="6838950" y="187642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aiplatform.yaml</a:t>
            </a:r>
          </a:p>
        </p:txBody>
      </p:sp>
      <p:sp>
        <p:nvSpPr>
          <p:cNvPr id="11" name="">
            <a:extLst xmlns:a="http://schemas.openxmlformats.org/drawingml/2006/main">
              <a:ext uri="{FF2B5EF4-FFF2-40B4-BE49-F238E27FC236}">
                <a16:creationId xmlns:a16="http://schemas.microsoft.com/office/drawing/2014/main" id="{AE02A119-FB87-47DD-B7B6-26ABF827533A}"/>
              </a:ext>
            </a:extLst>
          </p:cNvPr>
          <p:cNvSpPr>
            <a:spLocks xmlns:a="http://schemas.openxmlformats.org/drawingml/2006/main" noGrp="1"/>
          </p:cNvSpPr>
          <p:nvPr/>
        </p:nvSpPr>
        <p:spPr>
          <a:xfrm xmlns:a="http://schemas.openxmlformats.org/drawingml/2006/main">
            <a:off x="6896100" y="2381250"/>
            <a:ext cx="44291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A32"/>
                </a:solidFill>
                <a:latin typeface="Arial"/>
                <a:ea typeface="Arial"/>
                <a:cs typeface="Arial"/>
              </a:defRPr>
            </a:defPPr>
          </a:lstStyle>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name: document-agent</a:t>
            </a:r>
          </a:p>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model: qwen2.5-0.5b-instruct</a:t>
            </a:r>
          </a:p>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engine: llamacpp-server</a:t>
            </a:r>
          </a:p>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cpu: 2</a:t>
            </a:r>
          </a:p>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memory: 1Gi</a:t>
            </a:r>
          </a:p>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environment: dev</a:t>
            </a:r>
          </a:p>
        </p:txBody>
      </p:sp>
      <p:sp>
        <p:nvSpPr>
          <p:cNvPr id="12" name="">
            <a:extLst xmlns:a="http://schemas.openxmlformats.org/drawingml/2006/main">
              <a:ext uri="{FF2B5EF4-FFF2-40B4-BE49-F238E27FC236}">
                <a16:creationId xmlns:a16="http://schemas.microsoft.com/office/drawing/2014/main" id="{9364252B-3455-4C5A-8A1B-D60F2F6E38D2}"/>
              </a:ext>
            </a:extLst>
          </p:cNvPr>
          <p:cNvSpPr>
            <a:spLocks xmlns:a="http://schemas.openxmlformats.org/drawingml/2006/main" noGrp="1"/>
          </p:cNvSpPr>
          <p:nvPr/>
        </p:nvSpPr>
        <p:spPr>
          <a:xfrm xmlns:a="http://schemas.openxmlformats.org/drawingml/2006/main">
            <a:off x="6667500" y="5524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87E70"/>
                </a:solidFill>
                <a:latin typeface="Arial"/>
                <a:ea typeface="Arial"/>
                <a:cs typeface="Arial"/>
              </a:defRPr>
            </a:defPPr>
          </a:lstStyle>
          <a:p xmlns:a="http://schemas.openxmlformats.org/drawingml/2006/main">
            <a:pPr>
              <a:defRPr sz="1875" b="1">
                <a:solidFill>
                  <a:srgbClr val="087E70"/>
                </a:solidFill>
                <a:latin typeface="Arial"/>
                <a:ea typeface="Arial"/>
                <a:cs typeface="Arial"/>
              </a:defRPr>
            </a:pPr>
            <a:r>
              <a:rPr sz="1875" b="1">
                <a:solidFill>
                  <a:srgbClr val="087E70"/>
                </a:solidFill>
                <a:latin typeface="Arial"/>
                <a:ea typeface="Arial"/>
                <a:cs typeface="Arial"/>
              </a:rPr>
              <a:t>aiplatform deploy --target kind</a:t>
            </a:r>
          </a:p>
        </p:txBody>
      </p:sp>
    </p:spTree>
    <p:extLst>
      <p:ext uri="{BB962C8B-B14F-4D97-AF65-F5344CB8AC3E}">
        <p14:creationId xmlns:p14="http://schemas.microsoft.com/office/powerpoint/2010/main" val="21035912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E2218E64-5C01-4C24-97B3-5CF42046635E}"/>
              </a:ext>
            </a:extLst>
          </p:cNvPr>
          <p:cNvCxnSpPr>
            <a:stCxn xmlns:a="http://schemas.openxmlformats.org/drawingml/2006/main" id="18" idx="3"/>
            <a:endCxn xmlns:a="http://schemas.openxmlformats.org/drawingml/2006/main" id="24" idx="1"/>
          </p:cNvCxnSpPr>
          <p:nvPr/>
        </p:nvCxnSpPr>
        <p:spPr>
          <a:xfrm xmlns:a="http://schemas.openxmlformats.org/drawingml/2006/main">
            <a:off x="8953500" y="4419600"/>
            <a:ext cx="476250" cy="0"/>
          </a:xfrm>
          <a:prstGeom xmlns:a="http://schemas.openxmlformats.org/drawingml/2006/main" prst="straightConnector1">
            <a:avLst/>
          </a:prstGeom>
          <a:ln xmlns:a="http://schemas.openxmlformats.org/drawingml/2006/main" w="19050">
            <a:solidFill>
              <a:srgbClr val="087E70"/>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F9D1ABD-D9C9-4AF4-895A-BBB661D84A98}"/>
              </a:ext>
            </a:extLst>
          </p:cNvPr>
          <p:cNvCxnSpPr>
            <a:stCxn xmlns:a="http://schemas.openxmlformats.org/drawingml/2006/main" id="7" idx="2"/>
            <a:endCxn xmlns:a="http://schemas.openxmlformats.org/drawingml/2006/main" id="18" idx="0"/>
          </p:cNvCxnSpPr>
          <p:nvPr/>
        </p:nvCxnSpPr>
        <p:spPr>
          <a:xfrm xmlns:a="http://schemas.openxmlformats.org/drawingml/2006/main">
            <a:off x="5753100" y="3028950"/>
            <a:ext cx="1990725" cy="914400"/>
          </a:xfrm>
          <a:prstGeom xmlns:a="http://schemas.openxmlformats.org/drawingml/2006/main" prst="straightConnector1">
            <a:avLst/>
          </a:prstGeom>
          <a:ln xmlns:a="http://schemas.openxmlformats.org/drawingml/2006/main" w="19050">
            <a:solidFill>
              <a:srgbClr val="087E70"/>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CC7A3CA8-5D8B-435E-909D-D3CB8DE0ED78}"/>
              </a:ext>
            </a:extLst>
          </p:cNvPr>
          <p:cNvCxnSpPr>
            <a:stCxn xmlns:a="http://schemas.openxmlformats.org/drawingml/2006/main" id="15" idx="3"/>
            <a:endCxn xmlns:a="http://schemas.openxmlformats.org/drawingml/2006/main" id="18" idx="1"/>
          </p:cNvCxnSpPr>
          <p:nvPr/>
        </p:nvCxnSpPr>
        <p:spPr>
          <a:xfrm xmlns:a="http://schemas.openxmlformats.org/drawingml/2006/main">
            <a:off x="5991225" y="4419600"/>
            <a:ext cx="542925" cy="0"/>
          </a:xfrm>
          <a:prstGeom xmlns:a="http://schemas.openxmlformats.org/drawingml/2006/main" prst="straightConnector1">
            <a:avLst/>
          </a:prstGeom>
          <a:ln xmlns:a="http://schemas.openxmlformats.org/drawingml/2006/main" w="19050">
            <a:solidFill>
              <a:srgbClr val="087E70"/>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ED116755-E26F-4662-A5BC-26F4D18B7DC1}"/>
              </a:ext>
            </a:extLst>
          </p:cNvPr>
          <p:cNvCxnSpPr>
            <a:stCxn xmlns:a="http://schemas.openxmlformats.org/drawingml/2006/main" id="12" idx="3"/>
            <a:endCxn xmlns:a="http://schemas.openxmlformats.org/drawingml/2006/main" id="15" idx="1"/>
          </p:cNvCxnSpPr>
          <p:nvPr/>
        </p:nvCxnSpPr>
        <p:spPr>
          <a:xfrm xmlns:a="http://schemas.openxmlformats.org/drawingml/2006/main">
            <a:off x="3028950" y="4419600"/>
            <a:ext cx="542925" cy="0"/>
          </a:xfrm>
          <a:prstGeom xmlns:a="http://schemas.openxmlformats.org/drawingml/2006/main" prst="straightConnector1">
            <a:avLst/>
          </a:prstGeom>
          <a:ln xmlns:a="http://schemas.openxmlformats.org/drawingml/2006/main" w="19050">
            <a:solidFill>
              <a:srgbClr val="087E70"/>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A7038FAB-2C73-4809-B7AC-1BDC4B7F1D88}"/>
              </a:ext>
            </a:extLst>
          </p:cNvPr>
          <p:cNvCxnSpPr>
            <a:stCxn xmlns:a="http://schemas.openxmlformats.org/drawingml/2006/main" id="4" idx="3"/>
            <a:endCxn xmlns:a="http://schemas.openxmlformats.org/drawingml/2006/main" id="7" idx="1"/>
          </p:cNvCxnSpPr>
          <p:nvPr/>
        </p:nvCxnSpPr>
        <p:spPr>
          <a:xfrm xmlns:a="http://schemas.openxmlformats.org/drawingml/2006/main">
            <a:off x="3467100" y="2552700"/>
            <a:ext cx="857250" cy="0"/>
          </a:xfrm>
          <a:prstGeom xmlns:a="http://schemas.openxmlformats.org/drawingml/2006/main" prst="straightConnector1">
            <a:avLst/>
          </a:prstGeom>
          <a:ln xmlns:a="http://schemas.openxmlformats.org/drawingml/2006/main" w="19050">
            <a:solidFill>
              <a:srgbClr val="087E70"/>
            </a:solidFill>
            <a:prstDash val="solid"/>
            <a:tailEnd type="triangle" w="med" len="med"/>
          </a:ln>
        </p:spPr>
      </p:cxnSp>
      <p:sp>
        <p:nvSpPr>
          <p:cNvPr id="31" name="">
            <a:extLst xmlns:a="http://schemas.openxmlformats.org/drawingml/2006/main">
              <a:ext uri="{FF2B5EF4-FFF2-40B4-BE49-F238E27FC236}">
                <a16:creationId xmlns:a16="http://schemas.microsoft.com/office/drawing/2014/main" id="{3FE3CB9E-7EB3-4C29-82E4-42E491BF3E4B}"/>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Current prototype architecture</a:t>
            </a:r>
          </a:p>
        </p:txBody>
      </p:sp>
      <p:sp>
        <p:nvSpPr>
          <p:cNvPr id="2" name="">
            <a:extLst xmlns:a="http://schemas.openxmlformats.org/drawingml/2006/main">
              <a:ext uri="{FF2B5EF4-FFF2-40B4-BE49-F238E27FC236}">
                <a16:creationId xmlns:a16="http://schemas.microsoft.com/office/drawing/2014/main" id="{6ACC6A47-BBD5-4099-A99E-A867DA166F84}"/>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3 / 8</a:t>
            </a:r>
          </a:p>
        </p:txBody>
      </p:sp>
      <p:sp>
        <p:nvSpPr>
          <p:cNvPr id="3" name="">
            <a:extLst xmlns:a="http://schemas.openxmlformats.org/drawingml/2006/main">
              <a:ext uri="{FF2B5EF4-FFF2-40B4-BE49-F238E27FC236}">
                <a16:creationId xmlns:a16="http://schemas.microsoft.com/office/drawing/2014/main" id="{1AF85086-2990-481F-BBE2-9BE0E32A52C3}"/>
              </a:ext>
            </a:extLst>
          </p:cNvPr>
          <p:cNvSpPr>
            <a:spLocks xmlns:a="http://schemas.openxmlformats.org/drawingml/2006/main" noGrp="1"/>
          </p:cNvSpPr>
          <p:nvPr/>
        </p:nvSpPr>
        <p:spPr>
          <a:xfrm xmlns:a="http://schemas.openxmlformats.org/drawingml/2006/main">
            <a:off x="609600" y="15716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87E70"/>
                </a:solidFill>
                <a:latin typeface="Arial"/>
                <a:ea typeface="Arial"/>
                <a:cs typeface="Arial"/>
              </a:defRPr>
            </a:defPPr>
          </a:lstStyle>
          <a:p xmlns:a="http://schemas.openxmlformats.org/drawingml/2006/main">
            <a:pPr>
              <a:defRPr sz="1725" b="1">
                <a:solidFill>
                  <a:srgbClr val="087E70"/>
                </a:solidFill>
                <a:latin typeface="Arial"/>
                <a:ea typeface="Arial"/>
                <a:cs typeface="Arial"/>
              </a:defRPr>
            </a:pPr>
            <a:r>
              <a:rPr sz="1725" b="1">
                <a:solidFill>
                  <a:srgbClr val="087E70"/>
                </a:solidFill>
                <a:latin typeface="Arial"/>
                <a:ea typeface="Arial"/>
                <a:cs typeface="Arial"/>
              </a:rPr>
              <a:t>Hosted CI and registry</a:t>
            </a:r>
          </a:p>
        </p:txBody>
      </p:sp>
      <p:sp>
        <p:nvSpPr>
          <p:cNvPr id="4" name="">
            <a:extLst xmlns:a="http://schemas.openxmlformats.org/drawingml/2006/main">
              <a:ext uri="{FF2B5EF4-FFF2-40B4-BE49-F238E27FC236}">
                <a16:creationId xmlns:a16="http://schemas.microsoft.com/office/drawing/2014/main" id="{CD0FE3AA-B9F4-4F70-A0A8-11DBAF492D8F}"/>
              </a:ext>
            </a:extLst>
          </p:cNvPr>
          <p:cNvSpPr>
            <a:spLocks xmlns:a="http://schemas.openxmlformats.org/drawingml/2006/main" noGrp="1"/>
          </p:cNvSpPr>
          <p:nvPr/>
        </p:nvSpPr>
        <p:spPr>
          <a:xfrm xmlns:a="http://schemas.openxmlformats.org/drawingml/2006/main">
            <a:off x="609600" y="2076450"/>
            <a:ext cx="285750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5" name="">
            <a:extLst xmlns:a="http://schemas.openxmlformats.org/drawingml/2006/main">
              <a:ext uri="{FF2B5EF4-FFF2-40B4-BE49-F238E27FC236}">
                <a16:creationId xmlns:a16="http://schemas.microsoft.com/office/drawing/2014/main" id="{405ED184-73C7-43DE-9F35-6E2A9C2CE1C9}"/>
              </a:ext>
            </a:extLst>
          </p:cNvPr>
          <p:cNvSpPr>
            <a:spLocks xmlns:a="http://schemas.openxmlformats.org/drawingml/2006/main" noGrp="1"/>
          </p:cNvSpPr>
          <p:nvPr/>
        </p:nvSpPr>
        <p:spPr>
          <a:xfrm xmlns:a="http://schemas.openxmlformats.org/drawingml/2006/main">
            <a:off x="781050" y="2190750"/>
            <a:ext cx="2514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GitHub Actions</a:t>
            </a:r>
          </a:p>
        </p:txBody>
      </p:sp>
      <p:sp>
        <p:nvSpPr>
          <p:cNvPr id="6" name="">
            <a:extLst xmlns:a="http://schemas.openxmlformats.org/drawingml/2006/main">
              <a:ext uri="{FF2B5EF4-FFF2-40B4-BE49-F238E27FC236}">
                <a16:creationId xmlns:a16="http://schemas.microsoft.com/office/drawing/2014/main" id="{FFE50B17-715D-469C-9B7A-5B59CCA7CC11}"/>
              </a:ext>
            </a:extLst>
          </p:cNvPr>
          <p:cNvSpPr>
            <a:spLocks xmlns:a="http://schemas.openxmlformats.org/drawingml/2006/main" noGrp="1"/>
          </p:cNvSpPr>
          <p:nvPr/>
        </p:nvSpPr>
        <p:spPr>
          <a:xfrm xmlns:a="http://schemas.openxmlformats.org/drawingml/2006/main">
            <a:off x="781050" y="254317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Tests, scans and image build</a:t>
            </a:r>
          </a:p>
        </p:txBody>
      </p:sp>
      <p:sp>
        <p:nvSpPr>
          <p:cNvPr id="7" name="">
            <a:extLst xmlns:a="http://schemas.openxmlformats.org/drawingml/2006/main">
              <a:ext uri="{FF2B5EF4-FFF2-40B4-BE49-F238E27FC236}">
                <a16:creationId xmlns:a16="http://schemas.microsoft.com/office/drawing/2014/main" id="{94C57403-1AEF-4D84-93E7-A10DE3FE568C}"/>
              </a:ext>
            </a:extLst>
          </p:cNvPr>
          <p:cNvSpPr>
            <a:spLocks xmlns:a="http://schemas.openxmlformats.org/drawingml/2006/main" noGrp="1"/>
          </p:cNvSpPr>
          <p:nvPr/>
        </p:nvSpPr>
        <p:spPr>
          <a:xfrm xmlns:a="http://schemas.openxmlformats.org/drawingml/2006/main">
            <a:off x="4324350" y="2076450"/>
            <a:ext cx="285750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8" name="">
            <a:extLst xmlns:a="http://schemas.openxmlformats.org/drawingml/2006/main">
              <a:ext uri="{FF2B5EF4-FFF2-40B4-BE49-F238E27FC236}">
                <a16:creationId xmlns:a16="http://schemas.microsoft.com/office/drawing/2014/main" id="{57A027F2-B239-4F78-ACA1-56C2010AE49E}"/>
              </a:ext>
            </a:extLst>
          </p:cNvPr>
          <p:cNvSpPr>
            <a:spLocks xmlns:a="http://schemas.openxmlformats.org/drawingml/2006/main" noGrp="1"/>
          </p:cNvSpPr>
          <p:nvPr/>
        </p:nvSpPr>
        <p:spPr>
          <a:xfrm xmlns:a="http://schemas.openxmlformats.org/drawingml/2006/main">
            <a:off x="4495800" y="2190750"/>
            <a:ext cx="2514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GHCR</a:t>
            </a:r>
          </a:p>
        </p:txBody>
      </p:sp>
      <p:sp>
        <p:nvSpPr>
          <p:cNvPr id="9" name="">
            <a:extLst xmlns:a="http://schemas.openxmlformats.org/drawingml/2006/main">
              <a:ext uri="{FF2B5EF4-FFF2-40B4-BE49-F238E27FC236}">
                <a16:creationId xmlns:a16="http://schemas.microsoft.com/office/drawing/2014/main" id="{CFEB6B7C-B380-461B-A47E-580F64FA8087}"/>
              </a:ext>
            </a:extLst>
          </p:cNvPr>
          <p:cNvSpPr>
            <a:spLocks xmlns:a="http://schemas.openxmlformats.org/drawingml/2006/main" noGrp="1"/>
          </p:cNvSpPr>
          <p:nvPr/>
        </p:nvSpPr>
        <p:spPr>
          <a:xfrm xmlns:a="http://schemas.openxmlformats.org/drawingml/2006/main">
            <a:off x="4495800" y="254317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Published inference images</a:t>
            </a:r>
          </a:p>
        </p:txBody>
      </p:sp>
      <p:sp>
        <p:nvSpPr>
          <p:cNvPr id="11" name="">
            <a:extLst xmlns:a="http://schemas.openxmlformats.org/drawingml/2006/main">
              <a:ext uri="{FF2B5EF4-FFF2-40B4-BE49-F238E27FC236}">
                <a16:creationId xmlns:a16="http://schemas.microsoft.com/office/drawing/2014/main" id="{46069222-455D-4F5B-8294-C5F0B4E797B0}"/>
              </a:ext>
            </a:extLst>
          </p:cNvPr>
          <p:cNvSpPr>
            <a:spLocks xmlns:a="http://schemas.openxmlformats.org/drawingml/2006/main" noGrp="1"/>
          </p:cNvSpPr>
          <p:nvPr/>
        </p:nvSpPr>
        <p:spPr>
          <a:xfrm xmlns:a="http://schemas.openxmlformats.org/drawingml/2006/main">
            <a:off x="609600" y="33813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87E70"/>
                </a:solidFill>
                <a:latin typeface="Arial"/>
                <a:ea typeface="Arial"/>
                <a:cs typeface="Arial"/>
              </a:defRPr>
            </a:defPPr>
          </a:lstStyle>
          <a:p xmlns:a="http://schemas.openxmlformats.org/drawingml/2006/main">
            <a:pPr>
              <a:defRPr sz="1725" b="1">
                <a:solidFill>
                  <a:srgbClr val="087E70"/>
                </a:solidFill>
                <a:latin typeface="Arial"/>
                <a:ea typeface="Arial"/>
                <a:cs typeface="Arial"/>
              </a:defRPr>
            </a:pPr>
            <a:r>
              <a:rPr sz="1725" b="1">
                <a:solidFill>
                  <a:srgbClr val="087E70"/>
                </a:solidFill>
                <a:latin typeface="Arial"/>
                <a:ea typeface="Arial"/>
                <a:cs typeface="Arial"/>
              </a:rPr>
              <a:t>Local Kubernetes on kind</a:t>
            </a:r>
          </a:p>
        </p:txBody>
      </p:sp>
      <p:sp>
        <p:nvSpPr>
          <p:cNvPr id="12" name="">
            <a:extLst xmlns:a="http://schemas.openxmlformats.org/drawingml/2006/main">
              <a:ext uri="{FF2B5EF4-FFF2-40B4-BE49-F238E27FC236}">
                <a16:creationId xmlns:a16="http://schemas.microsoft.com/office/drawing/2014/main" id="{A62C66FA-2CFF-43A8-8A7D-CEBB59764C32}"/>
              </a:ext>
            </a:extLst>
          </p:cNvPr>
          <p:cNvSpPr>
            <a:spLocks xmlns:a="http://schemas.openxmlformats.org/drawingml/2006/main" noGrp="1"/>
          </p:cNvSpPr>
          <p:nvPr/>
        </p:nvSpPr>
        <p:spPr>
          <a:xfrm xmlns:a="http://schemas.openxmlformats.org/drawingml/2006/main">
            <a:off x="609600" y="3943350"/>
            <a:ext cx="241935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13" name="">
            <a:extLst xmlns:a="http://schemas.openxmlformats.org/drawingml/2006/main">
              <a:ext uri="{FF2B5EF4-FFF2-40B4-BE49-F238E27FC236}">
                <a16:creationId xmlns:a16="http://schemas.microsoft.com/office/drawing/2014/main" id="{2812D31E-DBAF-4ADB-8A14-8B55C10C8F8F}"/>
              </a:ext>
            </a:extLst>
          </p:cNvPr>
          <p:cNvSpPr>
            <a:spLocks xmlns:a="http://schemas.openxmlformats.org/drawingml/2006/main" noGrp="1"/>
          </p:cNvSpPr>
          <p:nvPr/>
        </p:nvSpPr>
        <p:spPr>
          <a:xfrm xmlns:a="http://schemas.openxmlformats.org/drawingml/2006/main">
            <a:off x="781050" y="40576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CLI + YAML</a:t>
            </a:r>
          </a:p>
        </p:txBody>
      </p:sp>
      <p:sp>
        <p:nvSpPr>
          <p:cNvPr id="14" name="">
            <a:extLst xmlns:a="http://schemas.openxmlformats.org/drawingml/2006/main">
              <a:ext uri="{FF2B5EF4-FFF2-40B4-BE49-F238E27FC236}">
                <a16:creationId xmlns:a16="http://schemas.microsoft.com/office/drawing/2014/main" id="{7A89FEAC-539B-45A3-8441-E24CEB367B4F}"/>
              </a:ext>
            </a:extLst>
          </p:cNvPr>
          <p:cNvSpPr>
            <a:spLocks xmlns:a="http://schemas.openxmlformats.org/drawingml/2006/main" noGrp="1"/>
          </p:cNvSpPr>
          <p:nvPr/>
        </p:nvSpPr>
        <p:spPr>
          <a:xfrm xmlns:a="http://schemas.openxmlformats.org/drawingml/2006/main">
            <a:off x="781050" y="4410075"/>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Validation and deployment</a:t>
            </a:r>
          </a:p>
        </p:txBody>
      </p:sp>
      <p:sp>
        <p:nvSpPr>
          <p:cNvPr id="15" name="">
            <a:extLst xmlns:a="http://schemas.openxmlformats.org/drawingml/2006/main">
              <a:ext uri="{FF2B5EF4-FFF2-40B4-BE49-F238E27FC236}">
                <a16:creationId xmlns:a16="http://schemas.microsoft.com/office/drawing/2014/main" id="{67C90B45-3A71-4F13-8294-B82031A347B0}"/>
              </a:ext>
            </a:extLst>
          </p:cNvPr>
          <p:cNvSpPr>
            <a:spLocks xmlns:a="http://schemas.openxmlformats.org/drawingml/2006/main" noGrp="1"/>
          </p:cNvSpPr>
          <p:nvPr/>
        </p:nvSpPr>
        <p:spPr>
          <a:xfrm xmlns:a="http://schemas.openxmlformats.org/drawingml/2006/main">
            <a:off x="3571875" y="3943350"/>
            <a:ext cx="241935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16" name="">
            <a:extLst xmlns:a="http://schemas.openxmlformats.org/drawingml/2006/main">
              <a:ext uri="{FF2B5EF4-FFF2-40B4-BE49-F238E27FC236}">
                <a16:creationId xmlns:a16="http://schemas.microsoft.com/office/drawing/2014/main" id="{B671FA2E-4AFA-4A88-AC3A-8AC6A29E0870}"/>
              </a:ext>
            </a:extLst>
          </p:cNvPr>
          <p:cNvSpPr>
            <a:spLocks xmlns:a="http://schemas.openxmlformats.org/drawingml/2006/main" noGrp="1"/>
          </p:cNvSpPr>
          <p:nvPr/>
        </p:nvSpPr>
        <p:spPr>
          <a:xfrm xmlns:a="http://schemas.openxmlformats.org/drawingml/2006/main">
            <a:off x="3743325" y="40576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Helm / Argo CD</a:t>
            </a:r>
          </a:p>
        </p:txBody>
      </p:sp>
      <p:sp>
        <p:nvSpPr>
          <p:cNvPr id="17" name="">
            <a:extLst xmlns:a="http://schemas.openxmlformats.org/drawingml/2006/main">
              <a:ext uri="{FF2B5EF4-FFF2-40B4-BE49-F238E27FC236}">
                <a16:creationId xmlns:a16="http://schemas.microsoft.com/office/drawing/2014/main" id="{26229905-5593-4D28-852E-C5914F4BE4B0}"/>
              </a:ext>
            </a:extLst>
          </p:cNvPr>
          <p:cNvSpPr>
            <a:spLocks xmlns:a="http://schemas.openxmlformats.org/drawingml/2006/main" noGrp="1"/>
          </p:cNvSpPr>
          <p:nvPr/>
        </p:nvSpPr>
        <p:spPr>
          <a:xfrm xmlns:a="http://schemas.openxmlformats.org/drawingml/2006/main">
            <a:off x="3743325" y="4410075"/>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Direct or GitOps delivery</a:t>
            </a:r>
          </a:p>
        </p:txBody>
      </p:sp>
      <p:sp>
        <p:nvSpPr>
          <p:cNvPr id="18" name="">
            <a:extLst xmlns:a="http://schemas.openxmlformats.org/drawingml/2006/main">
              <a:ext uri="{FF2B5EF4-FFF2-40B4-BE49-F238E27FC236}">
                <a16:creationId xmlns:a16="http://schemas.microsoft.com/office/drawing/2014/main" id="{FE8CC84D-3B96-4B40-9D24-089171149FC9}"/>
              </a:ext>
            </a:extLst>
          </p:cNvPr>
          <p:cNvSpPr>
            <a:spLocks xmlns:a="http://schemas.openxmlformats.org/drawingml/2006/main" noGrp="1"/>
          </p:cNvSpPr>
          <p:nvPr/>
        </p:nvSpPr>
        <p:spPr>
          <a:xfrm xmlns:a="http://schemas.openxmlformats.org/drawingml/2006/main">
            <a:off x="6534150" y="3943350"/>
            <a:ext cx="241935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19" name="">
            <a:extLst xmlns:a="http://schemas.openxmlformats.org/drawingml/2006/main">
              <a:ext uri="{FF2B5EF4-FFF2-40B4-BE49-F238E27FC236}">
                <a16:creationId xmlns:a16="http://schemas.microsoft.com/office/drawing/2014/main" id="{DBABB63F-42BE-43AB-BDFA-D239447A5035}"/>
              </a:ext>
            </a:extLst>
          </p:cNvPr>
          <p:cNvSpPr>
            <a:spLocks xmlns:a="http://schemas.openxmlformats.org/drawingml/2006/main" noGrp="1"/>
          </p:cNvSpPr>
          <p:nvPr/>
        </p:nvSpPr>
        <p:spPr>
          <a:xfrm xmlns:a="http://schemas.openxmlformats.org/drawingml/2006/main">
            <a:off x="6705600" y="4057650"/>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Inference pod</a:t>
            </a:r>
          </a:p>
        </p:txBody>
      </p:sp>
      <p:sp>
        <p:nvSpPr>
          <p:cNvPr id="20" name="">
            <a:extLst xmlns:a="http://schemas.openxmlformats.org/drawingml/2006/main">
              <a:ext uri="{FF2B5EF4-FFF2-40B4-BE49-F238E27FC236}">
                <a16:creationId xmlns:a16="http://schemas.microsoft.com/office/drawing/2014/main" id="{48A4E99B-B1DD-4099-8103-9EC90A59D5AE}"/>
              </a:ext>
            </a:extLst>
          </p:cNvPr>
          <p:cNvSpPr>
            <a:spLocks xmlns:a="http://schemas.openxmlformats.org/drawingml/2006/main" noGrp="1"/>
          </p:cNvSpPr>
          <p:nvPr/>
        </p:nvSpPr>
        <p:spPr>
          <a:xfrm xmlns:a="http://schemas.openxmlformats.org/drawingml/2006/main">
            <a:off x="6705600" y="4410075"/>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Qwen 0.5B model</a:t>
            </a:r>
          </a:p>
        </p:txBody>
      </p:sp>
      <p:sp>
        <p:nvSpPr>
          <p:cNvPr id="24" name="">
            <a:extLst xmlns:a="http://schemas.openxmlformats.org/drawingml/2006/main">
              <a:ext uri="{FF2B5EF4-FFF2-40B4-BE49-F238E27FC236}">
                <a16:creationId xmlns:a16="http://schemas.microsoft.com/office/drawing/2014/main" id="{094D6BCE-E70B-4A0B-BAC1-CA3EA17CD133}"/>
              </a:ext>
            </a:extLst>
          </p:cNvPr>
          <p:cNvSpPr>
            <a:spLocks xmlns:a="http://schemas.openxmlformats.org/drawingml/2006/main" noGrp="1"/>
          </p:cNvSpPr>
          <p:nvPr/>
        </p:nvSpPr>
        <p:spPr>
          <a:xfrm xmlns:a="http://schemas.openxmlformats.org/drawingml/2006/main">
            <a:off x="9429750" y="3943350"/>
            <a:ext cx="2133600" cy="952500"/>
          </a:xfrm>
          <a:prstGeom xmlns:a="http://schemas.openxmlformats.org/drawingml/2006/main" prst="rect">
            <a:avLst/>
          </a:prstGeom>
          <a:solidFill xmlns:a="http://schemas.openxmlformats.org/drawingml/2006/main">
            <a:srgbClr val="E7F3EF"/>
          </a:solidFill>
          <a:ln xmlns:a="http://schemas.openxmlformats.org/drawingml/2006/main" w="9525">
            <a:solidFill>
              <a:srgbClr val="087E70"/>
            </a:solidFill>
          </a:ln>
        </p:spPr>
      </p:sp>
      <p:sp>
        <p:nvSpPr>
          <p:cNvPr id="25" name="">
            <a:extLst xmlns:a="http://schemas.openxmlformats.org/drawingml/2006/main">
              <a:ext uri="{FF2B5EF4-FFF2-40B4-BE49-F238E27FC236}">
                <a16:creationId xmlns:a16="http://schemas.microsoft.com/office/drawing/2014/main" id="{4487C0C7-CB98-490A-A8F2-AD89B91071AF}"/>
              </a:ext>
            </a:extLst>
          </p:cNvPr>
          <p:cNvSpPr>
            <a:spLocks xmlns:a="http://schemas.openxmlformats.org/drawingml/2006/main" noGrp="1"/>
          </p:cNvSpPr>
          <p:nvPr/>
        </p:nvSpPr>
        <p:spPr>
          <a:xfrm xmlns:a="http://schemas.openxmlformats.org/drawingml/2006/main">
            <a:off x="9601200" y="4057650"/>
            <a:ext cx="1790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Model cache</a:t>
            </a:r>
          </a:p>
        </p:txBody>
      </p:sp>
      <p:sp>
        <p:nvSpPr>
          <p:cNvPr id="26" name="">
            <a:extLst xmlns:a="http://schemas.openxmlformats.org/drawingml/2006/main">
              <a:ext uri="{FF2B5EF4-FFF2-40B4-BE49-F238E27FC236}">
                <a16:creationId xmlns:a16="http://schemas.microsoft.com/office/drawing/2014/main" id="{9499E1E5-A60F-4323-81C6-0622C944FAB0}"/>
              </a:ext>
            </a:extLst>
          </p:cNvPr>
          <p:cNvSpPr>
            <a:spLocks xmlns:a="http://schemas.openxmlformats.org/drawingml/2006/main" noGrp="1"/>
          </p:cNvSpPr>
          <p:nvPr/>
        </p:nvSpPr>
        <p:spPr>
          <a:xfrm xmlns:a="http://schemas.openxmlformats.org/drawingml/2006/main">
            <a:off x="9601200" y="4410075"/>
            <a:ext cx="1790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Persistent volume</a:t>
            </a:r>
          </a:p>
        </p:txBody>
      </p:sp>
      <p:sp>
        <p:nvSpPr>
          <p:cNvPr id="28" name="">
            <a:extLst xmlns:a="http://schemas.openxmlformats.org/drawingml/2006/main">
              <a:ext uri="{FF2B5EF4-FFF2-40B4-BE49-F238E27FC236}">
                <a16:creationId xmlns:a16="http://schemas.microsoft.com/office/drawing/2014/main" id="{8EC2AC68-0983-498C-B3B4-836582BE4AC8}"/>
              </a:ext>
            </a:extLst>
          </p:cNvPr>
          <p:cNvSpPr>
            <a:spLocks xmlns:a="http://schemas.openxmlformats.org/drawingml/2006/main" noGrp="1"/>
          </p:cNvSpPr>
          <p:nvPr/>
        </p:nvSpPr>
        <p:spPr>
          <a:xfrm xmlns:a="http://schemas.openxmlformats.org/drawingml/2006/main">
            <a:off x="609600" y="5429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ingress-nginx routes requests to the pod</a:t>
            </a:r>
          </a:p>
        </p:txBody>
      </p:sp>
      <p:sp>
        <p:nvSpPr>
          <p:cNvPr id="29" name="">
            <a:extLst xmlns:a="http://schemas.openxmlformats.org/drawingml/2006/main">
              <a:ext uri="{FF2B5EF4-FFF2-40B4-BE49-F238E27FC236}">
                <a16:creationId xmlns:a16="http://schemas.microsoft.com/office/drawing/2014/main" id="{165443D0-5A77-4435-BD09-934EE856D03F}"/>
              </a:ext>
            </a:extLst>
          </p:cNvPr>
          <p:cNvSpPr>
            <a:spLocks xmlns:a="http://schemas.openxmlformats.org/drawingml/2006/main" noGrp="1"/>
          </p:cNvSpPr>
          <p:nvPr/>
        </p:nvSpPr>
        <p:spPr>
          <a:xfrm xmlns:a="http://schemas.openxmlformats.org/drawingml/2006/main">
            <a:off x="609600" y="58674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Prometheus / Grafana metrics</a:t>
            </a:r>
          </a:p>
        </p:txBody>
      </p:sp>
      <p:sp>
        <p:nvSpPr>
          <p:cNvPr id="30" name="">
            <a:extLst xmlns:a="http://schemas.openxmlformats.org/drawingml/2006/main">
              <a:ext uri="{FF2B5EF4-FFF2-40B4-BE49-F238E27FC236}">
                <a16:creationId xmlns:a16="http://schemas.microsoft.com/office/drawing/2014/main" id="{F6DB70A5-C4EA-4DBD-AD61-E5639EC8D69F}"/>
              </a:ext>
            </a:extLst>
          </p:cNvPr>
          <p:cNvSpPr>
            <a:spLocks xmlns:a="http://schemas.openxmlformats.org/drawingml/2006/main" noGrp="1"/>
          </p:cNvSpPr>
          <p:nvPr/>
        </p:nvSpPr>
        <p:spPr>
          <a:xfrm xmlns:a="http://schemas.openxmlformats.org/drawingml/2006/main">
            <a:off x="6191250" y="58674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OpenTelemetry / Jaeger traces</a:t>
            </a:r>
          </a:p>
        </p:txBody>
      </p:sp>
    </p:spTree>
    <p:extLst>
      <p:ext uri="{BB962C8B-B14F-4D97-AF65-F5344CB8AC3E}">
        <p14:creationId xmlns:p14="http://schemas.microsoft.com/office/powerpoint/2010/main" val="1128417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CCD867F-4E72-48DD-B772-408CB7563610}"/>
              </a:ext>
            </a:extLst>
          </p:cNvPr>
          <p:cNvCxnSpPr>
            <a:stCxn xmlns:a="http://schemas.openxmlformats.org/drawingml/2006/main" id="7" idx="3"/>
            <a:endCxn xmlns:a="http://schemas.openxmlformats.org/drawingml/2006/main" id="10" idx="1"/>
          </p:cNvCxnSpPr>
          <p:nvPr/>
        </p:nvCxnSpPr>
        <p:spPr>
          <a:xfrm xmlns:a="http://schemas.openxmlformats.org/drawingml/2006/main">
            <a:off x="7381875" y="3181350"/>
            <a:ext cx="1038225" cy="0"/>
          </a:xfrm>
          <a:prstGeom xmlns:a="http://schemas.openxmlformats.org/drawingml/2006/main" prst="straightConnector1">
            <a:avLst/>
          </a:prstGeom>
          <a:ln xmlns:a="http://schemas.openxmlformats.org/drawingml/2006/main" w="19050">
            <a:solidFill>
              <a:srgbClr val="B6601E"/>
            </a:solidFill>
            <a:prstDash val="dash"/>
            <a:tailEnd type="triangle" w="med" len="med"/>
          </a:ln>
        </p:spPr>
      </p:cxnSp>
      <p:cxnSp>
        <p:nvCxnSpPr>
          <p:cNvPr id="13" name="">
            <a:extLst xmlns:a="http://schemas.openxmlformats.org/drawingml/2006/main">
              <a:ext uri="{FF2B5EF4-FFF2-40B4-BE49-F238E27FC236}">
                <a16:creationId xmlns:a16="http://schemas.microsoft.com/office/drawing/2014/main" id="{CED9791D-0019-421B-8B5C-F0E5CDE7A0BC}"/>
              </a:ext>
            </a:extLst>
          </p:cNvPr>
          <p:cNvCxnSpPr>
            <a:stCxn xmlns:a="http://schemas.openxmlformats.org/drawingml/2006/main" id="4" idx="3"/>
            <a:endCxn xmlns:a="http://schemas.openxmlformats.org/drawingml/2006/main" id="7" idx="1"/>
          </p:cNvCxnSpPr>
          <p:nvPr/>
        </p:nvCxnSpPr>
        <p:spPr>
          <a:xfrm xmlns:a="http://schemas.openxmlformats.org/drawingml/2006/main">
            <a:off x="3048000" y="3181350"/>
            <a:ext cx="666750" cy="0"/>
          </a:xfrm>
          <a:prstGeom xmlns:a="http://schemas.openxmlformats.org/drawingml/2006/main" prst="straightConnector1">
            <a:avLst/>
          </a:prstGeom>
          <a:ln xmlns:a="http://schemas.openxmlformats.org/drawingml/2006/main" w="19050">
            <a:solidFill>
              <a:srgbClr val="B6601E"/>
            </a:solidFill>
            <a:prstDash val="dash"/>
            <a:tailEnd type="triangle" w="med" len="med"/>
          </a:ln>
        </p:spPr>
      </p:cxnSp>
      <p:sp>
        <p:nvSpPr>
          <p:cNvPr id="18" name="">
            <a:extLst xmlns:a="http://schemas.openxmlformats.org/drawingml/2006/main">
              <a:ext uri="{FF2B5EF4-FFF2-40B4-BE49-F238E27FC236}">
                <a16:creationId xmlns:a16="http://schemas.microsoft.com/office/drawing/2014/main" id="{94CE745A-C0D1-44FF-A09C-FB728C4BA101}"/>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AWS midpoint deployment plan</a:t>
            </a:r>
          </a:p>
        </p:txBody>
      </p:sp>
      <p:sp>
        <p:nvSpPr>
          <p:cNvPr id="2" name="">
            <a:extLst xmlns:a="http://schemas.openxmlformats.org/drawingml/2006/main">
              <a:ext uri="{FF2B5EF4-FFF2-40B4-BE49-F238E27FC236}">
                <a16:creationId xmlns:a16="http://schemas.microsoft.com/office/drawing/2014/main" id="{3161D239-A9B6-4ABD-9A59-4F2E469FA914}"/>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4 / 8</a:t>
            </a:r>
          </a:p>
        </p:txBody>
      </p:sp>
      <p:sp>
        <p:nvSpPr>
          <p:cNvPr id="3" name="">
            <a:extLst xmlns:a="http://schemas.openxmlformats.org/drawingml/2006/main">
              <a:ext uri="{FF2B5EF4-FFF2-40B4-BE49-F238E27FC236}">
                <a16:creationId xmlns:a16="http://schemas.microsoft.com/office/drawing/2014/main" id="{538343C6-46DC-4B78-BB2C-B92A482FD846}"/>
              </a:ext>
            </a:extLst>
          </p:cNvPr>
          <p:cNvSpPr>
            <a:spLocks xmlns:a="http://schemas.openxmlformats.org/drawingml/2006/main" noGrp="1"/>
          </p:cNvSpPr>
          <p:nvPr/>
        </p:nvSpPr>
        <p:spPr>
          <a:xfrm xmlns:a="http://schemas.openxmlformats.org/drawingml/2006/main">
            <a:off x="609600" y="15716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6601E"/>
                </a:solidFill>
                <a:latin typeface="Arial"/>
                <a:ea typeface="Arial"/>
                <a:cs typeface="Arial"/>
              </a:defRPr>
            </a:defPPr>
          </a:lstStyle>
          <a:p xmlns:a="http://schemas.openxmlformats.org/drawingml/2006/main">
            <a:pPr>
              <a:defRPr sz="1800" b="1">
                <a:solidFill>
                  <a:srgbClr val="B6601E"/>
                </a:solidFill>
                <a:latin typeface="Arial"/>
                <a:ea typeface="Arial"/>
                <a:cs typeface="Arial"/>
              </a:defRPr>
            </a:pPr>
            <a:r>
              <a:rPr sz="1800" b="1">
                <a:solidFill>
                  <a:srgbClr val="B6601E"/>
                </a:solidFill>
                <a:latin typeface="Arial"/>
                <a:ea typeface="Arial"/>
                <a:cs typeface="Arial"/>
              </a:rPr>
              <a:t>PLANNED — awaiting launch and inference verification</a:t>
            </a:r>
          </a:p>
        </p:txBody>
      </p:sp>
      <p:sp>
        <p:nvSpPr>
          <p:cNvPr id="4" name="">
            <a:extLst xmlns:a="http://schemas.openxmlformats.org/drawingml/2006/main">
              <a:ext uri="{FF2B5EF4-FFF2-40B4-BE49-F238E27FC236}">
                <a16:creationId xmlns:a16="http://schemas.microsoft.com/office/drawing/2014/main" id="{460846F9-75EE-46FA-956C-748C21BD2DC1}"/>
              </a:ext>
            </a:extLst>
          </p:cNvPr>
          <p:cNvSpPr>
            <a:spLocks xmlns:a="http://schemas.openxmlformats.org/drawingml/2006/main" noGrp="1"/>
          </p:cNvSpPr>
          <p:nvPr/>
        </p:nvSpPr>
        <p:spPr>
          <a:xfrm xmlns:a="http://schemas.openxmlformats.org/drawingml/2006/main">
            <a:off x="609600" y="2667000"/>
            <a:ext cx="2438400" cy="1028700"/>
          </a:xfrm>
          <a:prstGeom xmlns:a="http://schemas.openxmlformats.org/drawingml/2006/main" prst="rect">
            <a:avLst/>
          </a:prstGeom>
          <a:solidFill xmlns:a="http://schemas.openxmlformats.org/drawingml/2006/main">
            <a:srgbClr val="FFF1DE"/>
          </a:solidFill>
          <a:ln xmlns:a="http://schemas.openxmlformats.org/drawingml/2006/main" w="9525">
            <a:solidFill>
              <a:srgbClr val="B6601E"/>
            </a:solidFill>
          </a:ln>
        </p:spPr>
      </p:sp>
      <p:sp>
        <p:nvSpPr>
          <p:cNvPr id="5" name="">
            <a:extLst xmlns:a="http://schemas.openxmlformats.org/drawingml/2006/main">
              <a:ext uri="{FF2B5EF4-FFF2-40B4-BE49-F238E27FC236}">
                <a16:creationId xmlns:a16="http://schemas.microsoft.com/office/drawing/2014/main" id="{EEB87117-B96E-4802-A6A9-4533D964EFE4}"/>
              </a:ext>
            </a:extLst>
          </p:cNvPr>
          <p:cNvSpPr>
            <a:spLocks xmlns:a="http://schemas.openxmlformats.org/drawingml/2006/main" noGrp="1"/>
          </p:cNvSpPr>
          <p:nvPr/>
        </p:nvSpPr>
        <p:spPr>
          <a:xfrm xmlns:a="http://schemas.openxmlformats.org/drawingml/2006/main">
            <a:off x="781050" y="27813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Operator IP</a:t>
            </a:r>
          </a:p>
        </p:txBody>
      </p:sp>
      <p:sp>
        <p:nvSpPr>
          <p:cNvPr id="6" name="">
            <a:extLst xmlns:a="http://schemas.openxmlformats.org/drawingml/2006/main">
              <a:ext uri="{FF2B5EF4-FFF2-40B4-BE49-F238E27FC236}">
                <a16:creationId xmlns:a16="http://schemas.microsoft.com/office/drawing/2014/main" id="{26679955-7B4D-4179-BE80-D506EE4FC86D}"/>
              </a:ext>
            </a:extLst>
          </p:cNvPr>
          <p:cNvSpPr>
            <a:spLocks xmlns:a="http://schemas.openxmlformats.org/drawingml/2006/main" noGrp="1"/>
          </p:cNvSpPr>
          <p:nvPr/>
        </p:nvSpPr>
        <p:spPr>
          <a:xfrm xmlns:a="http://schemas.openxmlformats.org/drawingml/2006/main">
            <a:off x="781050" y="3133725"/>
            <a:ext cx="209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Restricted inbound access</a:t>
            </a:r>
          </a:p>
        </p:txBody>
      </p:sp>
      <p:sp>
        <p:nvSpPr>
          <p:cNvPr id="7" name="">
            <a:extLst xmlns:a="http://schemas.openxmlformats.org/drawingml/2006/main">
              <a:ext uri="{FF2B5EF4-FFF2-40B4-BE49-F238E27FC236}">
                <a16:creationId xmlns:a16="http://schemas.microsoft.com/office/drawing/2014/main" id="{3307C32E-371C-4900-8ADF-B962557D5EC6}"/>
              </a:ext>
            </a:extLst>
          </p:cNvPr>
          <p:cNvSpPr>
            <a:spLocks xmlns:a="http://schemas.openxmlformats.org/drawingml/2006/main" noGrp="1"/>
          </p:cNvSpPr>
          <p:nvPr/>
        </p:nvSpPr>
        <p:spPr>
          <a:xfrm xmlns:a="http://schemas.openxmlformats.org/drawingml/2006/main">
            <a:off x="3714750" y="2667000"/>
            <a:ext cx="3667125" cy="1028700"/>
          </a:xfrm>
          <a:prstGeom xmlns:a="http://schemas.openxmlformats.org/drawingml/2006/main" prst="rect">
            <a:avLst/>
          </a:prstGeom>
          <a:solidFill xmlns:a="http://schemas.openxmlformats.org/drawingml/2006/main">
            <a:srgbClr val="FFF1DE"/>
          </a:solidFill>
          <a:ln xmlns:a="http://schemas.openxmlformats.org/drawingml/2006/main" w="9525">
            <a:solidFill>
              <a:srgbClr val="B6601E"/>
            </a:solidFill>
          </a:ln>
        </p:spPr>
      </p:sp>
      <p:sp>
        <p:nvSpPr>
          <p:cNvPr id="8" name="">
            <a:extLst xmlns:a="http://schemas.openxmlformats.org/drawingml/2006/main">
              <a:ext uri="{FF2B5EF4-FFF2-40B4-BE49-F238E27FC236}">
                <a16:creationId xmlns:a16="http://schemas.microsoft.com/office/drawing/2014/main" id="{775510B7-E7DE-4457-BFB2-FD75021A9E65}"/>
              </a:ext>
            </a:extLst>
          </p:cNvPr>
          <p:cNvSpPr>
            <a:spLocks xmlns:a="http://schemas.openxmlformats.org/drawingml/2006/main" noGrp="1"/>
          </p:cNvSpPr>
          <p:nvPr/>
        </p:nvSpPr>
        <p:spPr>
          <a:xfrm xmlns:a="http://schemas.openxmlformats.org/drawingml/2006/main">
            <a:off x="3886200" y="2781300"/>
            <a:ext cx="3324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EC2 in a public subnet</a:t>
            </a:r>
          </a:p>
        </p:txBody>
      </p:sp>
      <p:sp>
        <p:nvSpPr>
          <p:cNvPr id="9" name="">
            <a:extLst xmlns:a="http://schemas.openxmlformats.org/drawingml/2006/main">
              <a:ext uri="{FF2B5EF4-FFF2-40B4-BE49-F238E27FC236}">
                <a16:creationId xmlns:a16="http://schemas.microsoft.com/office/drawing/2014/main" id="{173C3AFF-DEA0-4450-9ADE-9698CB2D6E12}"/>
              </a:ext>
            </a:extLst>
          </p:cNvPr>
          <p:cNvSpPr>
            <a:spLocks xmlns:a="http://schemas.openxmlformats.org/drawingml/2006/main" noGrp="1"/>
          </p:cNvSpPr>
          <p:nvPr/>
        </p:nvSpPr>
        <p:spPr>
          <a:xfrm xmlns:a="http://schemas.openxmlformats.org/drawingml/2006/main">
            <a:off x="3886200" y="3133725"/>
            <a:ext cx="33242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Permitted t3 instance + Docker</a:t>
            </a:r>
          </a:p>
        </p:txBody>
      </p:sp>
      <p:sp>
        <p:nvSpPr>
          <p:cNvPr id="10" name="">
            <a:extLst xmlns:a="http://schemas.openxmlformats.org/drawingml/2006/main">
              <a:ext uri="{FF2B5EF4-FFF2-40B4-BE49-F238E27FC236}">
                <a16:creationId xmlns:a16="http://schemas.microsoft.com/office/drawing/2014/main" id="{7EFC14B3-006A-4D6C-BD33-01708DEDC08C}"/>
              </a:ext>
            </a:extLst>
          </p:cNvPr>
          <p:cNvSpPr>
            <a:spLocks xmlns:a="http://schemas.openxmlformats.org/drawingml/2006/main" noGrp="1"/>
          </p:cNvSpPr>
          <p:nvPr/>
        </p:nvSpPr>
        <p:spPr>
          <a:xfrm xmlns:a="http://schemas.openxmlformats.org/drawingml/2006/main">
            <a:off x="8420100" y="2667000"/>
            <a:ext cx="3143250" cy="1028700"/>
          </a:xfrm>
          <a:prstGeom xmlns:a="http://schemas.openxmlformats.org/drawingml/2006/main" prst="rect">
            <a:avLst/>
          </a:prstGeom>
          <a:solidFill xmlns:a="http://schemas.openxmlformats.org/drawingml/2006/main">
            <a:srgbClr val="FFF1DE"/>
          </a:solidFill>
          <a:ln xmlns:a="http://schemas.openxmlformats.org/drawingml/2006/main" w="9525">
            <a:solidFill>
              <a:srgbClr val="B6601E"/>
            </a:solidFill>
          </a:ln>
        </p:spPr>
      </p:sp>
      <p:sp>
        <p:nvSpPr>
          <p:cNvPr id="11" name="">
            <a:extLst xmlns:a="http://schemas.openxmlformats.org/drawingml/2006/main">
              <a:ext uri="{FF2B5EF4-FFF2-40B4-BE49-F238E27FC236}">
                <a16:creationId xmlns:a16="http://schemas.microsoft.com/office/drawing/2014/main" id="{9C40CB1D-B13E-429B-A238-74790C7F436D}"/>
              </a:ext>
            </a:extLst>
          </p:cNvPr>
          <p:cNvSpPr>
            <a:spLocks xmlns:a="http://schemas.openxmlformats.org/drawingml/2006/main" noGrp="1"/>
          </p:cNvSpPr>
          <p:nvPr/>
        </p:nvSpPr>
        <p:spPr>
          <a:xfrm xmlns:a="http://schemas.openxmlformats.org/drawingml/2006/main">
            <a:off x="8591550" y="278130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52A32"/>
                </a:solidFill>
                <a:latin typeface="Arial"/>
                <a:ea typeface="Arial"/>
                <a:cs typeface="Arial"/>
              </a:defRPr>
            </a:defPPr>
          </a:lstStyle>
          <a:p xmlns:a="http://schemas.openxmlformats.org/drawingml/2006/main">
            <a:pPr>
              <a:defRPr sz="1725" b="1">
                <a:solidFill>
                  <a:srgbClr val="152A32"/>
                </a:solidFill>
                <a:latin typeface="Arial"/>
                <a:ea typeface="Arial"/>
                <a:cs typeface="Arial"/>
              </a:defRPr>
            </a:pPr>
            <a:r>
              <a:rPr sz="1725" b="1">
                <a:solidFill>
                  <a:srgbClr val="152A32"/>
                </a:solidFill>
                <a:latin typeface="Arial"/>
                <a:ea typeface="Arial"/>
                <a:cs typeface="Arial"/>
              </a:rPr>
              <a:t>Encrypted EBS</a:t>
            </a:r>
          </a:p>
        </p:txBody>
      </p:sp>
      <p:sp>
        <p:nvSpPr>
          <p:cNvPr id="12" name="">
            <a:extLst xmlns:a="http://schemas.openxmlformats.org/drawingml/2006/main">
              <a:ext uri="{FF2B5EF4-FFF2-40B4-BE49-F238E27FC236}">
                <a16:creationId xmlns:a16="http://schemas.microsoft.com/office/drawing/2014/main" id="{DFEE3D2D-FDAF-431D-9538-2350A98FC6F3}"/>
              </a:ext>
            </a:extLst>
          </p:cNvPr>
          <p:cNvSpPr>
            <a:spLocks xmlns:a="http://schemas.openxmlformats.org/drawingml/2006/main" noGrp="1"/>
          </p:cNvSpPr>
          <p:nvPr/>
        </p:nvSpPr>
        <p:spPr>
          <a:xfrm xmlns:a="http://schemas.openxmlformats.org/drawingml/2006/main">
            <a:off x="8591550" y="3133725"/>
            <a:ext cx="2800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gp2 model cache</a:t>
            </a:r>
          </a:p>
        </p:txBody>
      </p:sp>
      <p:sp>
        <p:nvSpPr>
          <p:cNvPr id="15" name="">
            <a:extLst xmlns:a="http://schemas.openxmlformats.org/drawingml/2006/main">
              <a:ext uri="{FF2B5EF4-FFF2-40B4-BE49-F238E27FC236}">
                <a16:creationId xmlns:a16="http://schemas.microsoft.com/office/drawing/2014/main" id="{29E6899B-3A6B-4500-89AC-E9D05AAC0610}"/>
              </a:ext>
            </a:extLst>
          </p:cNvPr>
          <p:cNvSpPr>
            <a:spLocks xmlns:a="http://schemas.openxmlformats.org/drawingml/2006/main" noGrp="1"/>
          </p:cNvSpPr>
          <p:nvPr/>
        </p:nvSpPr>
        <p:spPr>
          <a:xfrm xmlns:a="http://schemas.openxmlformats.org/drawingml/2006/main">
            <a:off x="3714750" y="40767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52A32"/>
                </a:solidFill>
                <a:latin typeface="Arial"/>
                <a:ea typeface="Arial"/>
                <a:cs typeface="Arial"/>
              </a:defRPr>
            </a:defPPr>
          </a:lstStyle>
          <a:p xmlns:a="http://schemas.openxmlformats.org/drawingml/2006/main">
            <a:pPr>
              <a:defRPr sz="2025" b="1">
                <a:solidFill>
                  <a:srgbClr val="152A32"/>
                </a:solidFill>
                <a:latin typeface="Arial"/>
                <a:ea typeface="Arial"/>
                <a:cs typeface="Arial"/>
              </a:defRPr>
            </a:pPr>
            <a:r>
              <a:rPr sz="2025" b="1">
                <a:solidFill>
                  <a:srgbClr val="152A32"/>
                </a:solidFill>
                <a:latin typeface="Arial"/>
                <a:ea typeface="Arial"/>
                <a:cs typeface="Arial"/>
              </a:rPr>
              <a:t>VPC, route table and internet gateway</a:t>
            </a:r>
          </a:p>
        </p:txBody>
      </p:sp>
      <p:sp>
        <p:nvSpPr>
          <p:cNvPr id="16" name="">
            <a:extLst xmlns:a="http://schemas.openxmlformats.org/drawingml/2006/main">
              <a:ext uri="{FF2B5EF4-FFF2-40B4-BE49-F238E27FC236}">
                <a16:creationId xmlns:a16="http://schemas.microsoft.com/office/drawing/2014/main" id="{D3312822-30EA-4BDA-A4DF-86EDB872AFD3}"/>
              </a:ext>
            </a:extLst>
          </p:cNvPr>
          <p:cNvSpPr>
            <a:spLocks xmlns:a="http://schemas.openxmlformats.org/drawingml/2006/main" noGrp="1"/>
          </p:cNvSpPr>
          <p:nvPr/>
        </p:nvSpPr>
        <p:spPr>
          <a:xfrm xmlns:a="http://schemas.openxmlformats.org/drawingml/2006/main">
            <a:off x="3714750" y="4657725"/>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36B"/>
                </a:solidFill>
                <a:latin typeface="Arial"/>
                <a:ea typeface="Arial"/>
                <a:cs typeface="Arial"/>
              </a:defRPr>
            </a:defPPr>
          </a:lstStyle>
          <a:p xmlns:a="http://schemas.openxmlformats.org/drawingml/2006/main">
            <a:pPr>
              <a:defRPr sz="1875" b="0">
                <a:solidFill>
                  <a:srgbClr val="51636B"/>
                </a:solidFill>
                <a:latin typeface="Arial"/>
                <a:ea typeface="Arial"/>
                <a:cs typeface="Arial"/>
              </a:defRPr>
            </a:pPr>
            <a:r>
              <a:rPr sz="1875" b="0">
                <a:solidFill>
                  <a:srgbClr val="51636B"/>
                </a:solidFill>
                <a:latin typeface="Arial"/>
                <a:ea typeface="Arial"/>
                <a:cs typeface="Arial"/>
              </a:rPr>
              <a:t>Public image pull from GHCR</a:t>
            </a:r>
          </a:p>
          <a:p xmlns:a="http://schemas.openxmlformats.org/drawingml/2006/main">
            <a:pPr>
              <a:defRPr sz="1875" b="0">
                <a:solidFill>
                  <a:srgbClr val="51636B"/>
                </a:solidFill>
                <a:latin typeface="Arial"/>
                <a:ea typeface="Arial"/>
                <a:cs typeface="Arial"/>
              </a:defRPr>
            </a:pPr>
            <a:r>
              <a:rPr sz="1875" b="0">
                <a:solidFill>
                  <a:srgbClr val="51636B"/>
                </a:solidFill>
                <a:latin typeface="Arial"/>
                <a:ea typeface="Arial"/>
                <a:cs typeface="Arial"/>
              </a:rPr>
              <a:t>Existing permitted IAM profile if available</a:t>
            </a:r>
          </a:p>
        </p:txBody>
      </p:sp>
      <p:sp>
        <p:nvSpPr>
          <p:cNvPr id="17" name="">
            <a:extLst xmlns:a="http://schemas.openxmlformats.org/drawingml/2006/main">
              <a:ext uri="{FF2B5EF4-FFF2-40B4-BE49-F238E27FC236}">
                <a16:creationId xmlns:a16="http://schemas.microsoft.com/office/drawing/2014/main" id="{2ED35E62-4374-4AEB-A833-A0C0B75188DF}"/>
              </a:ext>
            </a:extLst>
          </p:cNvPr>
          <p:cNvSpPr>
            <a:spLocks xmlns:a="http://schemas.openxmlformats.org/drawingml/2006/main" noGrp="1"/>
          </p:cNvSpPr>
          <p:nvPr/>
        </p:nvSpPr>
        <p:spPr>
          <a:xfrm xmlns:a="http://schemas.openxmlformats.org/drawingml/2006/main">
            <a:off x="609600" y="58293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6601E"/>
                </a:solidFill>
                <a:latin typeface="Arial"/>
                <a:ea typeface="Arial"/>
                <a:cs typeface="Arial"/>
              </a:defRPr>
            </a:defPPr>
          </a:lstStyle>
          <a:p xmlns:a="http://schemas.openxmlformats.org/drawingml/2006/main">
            <a:pPr>
              <a:defRPr sz="1800" b="1">
                <a:solidFill>
                  <a:srgbClr val="B6601E"/>
                </a:solidFill>
                <a:latin typeface="Arial"/>
                <a:ea typeface="Arial"/>
                <a:cs typeface="Arial"/>
              </a:defRPr>
            </a:pPr>
            <a:r>
              <a:rPr sz="1800" b="1">
                <a:solidFill>
                  <a:srgbClr val="B6601E"/>
                </a:solidFill>
                <a:latin typeface="Arial"/>
                <a:ea typeface="Arial"/>
                <a:cs typeface="Arial"/>
              </a:rPr>
              <a:t>EKS, ECR, S3 state and GPU nodes remain later milestones</a:t>
            </a:r>
          </a:p>
        </p:txBody>
      </p:sp>
    </p:spTree>
    <p:extLst>
      <p:ext uri="{BB962C8B-B14F-4D97-AF65-F5344CB8AC3E}">
        <p14:creationId xmlns:p14="http://schemas.microsoft.com/office/powerpoint/2010/main" val="15591524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9D3F2A-7441-47CD-8818-138F9E6A05F7}"/>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Automation and verification</a:t>
            </a:r>
          </a:p>
        </p:txBody>
      </p:sp>
      <p:sp>
        <p:nvSpPr>
          <p:cNvPr id="2" name="">
            <a:extLst xmlns:a="http://schemas.openxmlformats.org/drawingml/2006/main">
              <a:ext uri="{FF2B5EF4-FFF2-40B4-BE49-F238E27FC236}">
                <a16:creationId xmlns:a16="http://schemas.microsoft.com/office/drawing/2014/main" id="{65425C85-6657-4F15-BDEA-9109B682B19B}"/>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5 / 8</a:t>
            </a:r>
          </a:p>
        </p:txBody>
      </p:sp>
      <p:sp>
        <p:nvSpPr>
          <p:cNvPr id="3" name="">
            <a:extLst xmlns:a="http://schemas.openxmlformats.org/drawingml/2006/main">
              <a:ext uri="{FF2B5EF4-FFF2-40B4-BE49-F238E27FC236}">
                <a16:creationId xmlns:a16="http://schemas.microsoft.com/office/drawing/2014/main" id="{2D532E53-B5C6-491F-8A27-295630F6C5F3}"/>
              </a:ext>
            </a:extLst>
          </p:cNvPr>
          <p:cNvSpPr>
            <a:spLocks xmlns:a="http://schemas.openxmlformats.org/drawingml/2006/main" noGrp="1"/>
          </p:cNvSpPr>
          <p:nvPr/>
        </p:nvSpPr>
        <p:spPr>
          <a:xfrm xmlns:a="http://schemas.openxmlformats.org/drawingml/2006/main">
            <a:off x="609600" y="1809750"/>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087E70"/>
                </a:solidFill>
                <a:latin typeface="Arial"/>
                <a:ea typeface="Arial"/>
                <a:cs typeface="Arial"/>
              </a:defRPr>
            </a:defPPr>
          </a:lstStyle>
          <a:p xmlns:a="http://schemas.openxmlformats.org/drawingml/2006/main">
            <a:pPr>
              <a:defRPr sz="7500" b="1">
                <a:solidFill>
                  <a:srgbClr val="087E70"/>
                </a:solidFill>
                <a:latin typeface="Arial"/>
                <a:ea typeface="Arial"/>
                <a:cs typeface="Arial"/>
              </a:defRPr>
            </a:pPr>
            <a:r>
              <a:rPr sz="7500" b="1">
                <a:solidFill>
                  <a:srgbClr val="087E70"/>
                </a:solidFill>
                <a:latin typeface="Arial"/>
                <a:ea typeface="Arial"/>
                <a:cs typeface="Arial"/>
              </a:rPr>
              <a:t>126</a:t>
            </a:r>
          </a:p>
        </p:txBody>
      </p:sp>
      <p:sp>
        <p:nvSpPr>
          <p:cNvPr id="4" name="">
            <a:extLst xmlns:a="http://schemas.openxmlformats.org/drawingml/2006/main">
              <a:ext uri="{FF2B5EF4-FFF2-40B4-BE49-F238E27FC236}">
                <a16:creationId xmlns:a16="http://schemas.microsoft.com/office/drawing/2014/main" id="{910F545F-6AF0-48C7-86DF-8566BAF9E98F}"/>
              </a:ext>
            </a:extLst>
          </p:cNvPr>
          <p:cNvSpPr>
            <a:spLocks xmlns:a="http://schemas.openxmlformats.org/drawingml/2006/main" noGrp="1"/>
          </p:cNvSpPr>
          <p:nvPr/>
        </p:nvSpPr>
        <p:spPr>
          <a:xfrm xmlns:a="http://schemas.openxmlformats.org/drawingml/2006/main">
            <a:off x="609600" y="30003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A32"/>
                </a:solidFill>
                <a:latin typeface="Arial"/>
                <a:ea typeface="Arial"/>
                <a:cs typeface="Arial"/>
              </a:defRPr>
            </a:defPPr>
          </a:lstStyle>
          <a:p xmlns:a="http://schemas.openxmlformats.org/drawingml/2006/main">
            <a:pPr>
              <a:defRPr sz="2250" b="0">
                <a:solidFill>
                  <a:srgbClr val="152A32"/>
                </a:solidFill>
                <a:latin typeface="Arial"/>
                <a:ea typeface="Arial"/>
                <a:cs typeface="Arial"/>
              </a:defRPr>
            </a:pPr>
            <a:r>
              <a:rPr sz="2250" b="0">
                <a:solidFill>
                  <a:srgbClr val="152A32"/>
                </a:solidFill>
                <a:latin typeface="Arial"/>
                <a:ea typeface="Arial"/>
                <a:cs typeface="Arial"/>
              </a:rPr>
              <a:t>Python tests passed in the October 15 audit</a:t>
            </a:r>
          </a:p>
        </p:txBody>
      </p:sp>
      <p:sp>
        <p:nvSpPr>
          <p:cNvPr id="5" name="">
            <a:extLst xmlns:a="http://schemas.openxmlformats.org/drawingml/2006/main">
              <a:ext uri="{FF2B5EF4-FFF2-40B4-BE49-F238E27FC236}">
                <a16:creationId xmlns:a16="http://schemas.microsoft.com/office/drawing/2014/main" id="{0A6C409B-D2F3-4F3F-B3AC-1E7A41C18928}"/>
              </a:ext>
            </a:extLst>
          </p:cNvPr>
          <p:cNvSpPr>
            <a:spLocks xmlns:a="http://schemas.openxmlformats.org/drawingml/2006/main" noGrp="1"/>
          </p:cNvSpPr>
          <p:nvPr/>
        </p:nvSpPr>
        <p:spPr>
          <a:xfrm xmlns:a="http://schemas.openxmlformats.org/drawingml/2006/main">
            <a:off x="609600" y="4238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36B"/>
                </a:solidFill>
                <a:latin typeface="Arial"/>
                <a:ea typeface="Arial"/>
                <a:cs typeface="Arial"/>
              </a:defRPr>
            </a:defPPr>
          </a:lstStyle>
          <a:p xmlns:a="http://schemas.openxmlformats.org/drawingml/2006/main">
            <a:pPr>
              <a:defRPr sz="1875" b="0">
                <a:solidFill>
                  <a:srgbClr val="51636B"/>
                </a:solidFill>
                <a:latin typeface="Arial"/>
                <a:ea typeface="Arial"/>
                <a:cs typeface="Arial"/>
              </a:defRPr>
            </a:pPr>
            <a:r>
              <a:rPr sz="1875" b="0">
                <a:solidFill>
                  <a:srgbClr val="51636B"/>
                </a:solidFill>
                <a:latin typeface="Arial"/>
                <a:ea typeface="Arial"/>
                <a:cs typeface="Arial"/>
              </a:rPr>
              <a:t>112 CLI tests + 14 service tests</a:t>
            </a:r>
          </a:p>
        </p:txBody>
      </p:sp>
      <p:sp>
        <p:nvSpPr>
          <p:cNvPr id="6" name="">
            <a:extLst xmlns:a="http://schemas.openxmlformats.org/drawingml/2006/main">
              <a:ext uri="{FF2B5EF4-FFF2-40B4-BE49-F238E27FC236}">
                <a16:creationId xmlns:a16="http://schemas.microsoft.com/office/drawing/2014/main" id="{D42032A4-5A4A-4731-A32B-4F6CAAEFD647}"/>
              </a:ext>
            </a:extLst>
          </p:cNvPr>
          <p:cNvSpPr>
            <a:spLocks xmlns:a="http://schemas.openxmlformats.org/drawingml/2006/main" noGrp="1"/>
          </p:cNvSpPr>
          <p:nvPr/>
        </p:nvSpPr>
        <p:spPr>
          <a:xfrm xmlns:a="http://schemas.openxmlformats.org/drawingml/2006/main">
            <a:off x="6191250" y="18478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Infrastructure checks</a:t>
            </a:r>
          </a:p>
        </p:txBody>
      </p:sp>
      <p:sp>
        <p:nvSpPr>
          <p:cNvPr id="7" name="">
            <a:extLst xmlns:a="http://schemas.openxmlformats.org/drawingml/2006/main">
              <a:ext uri="{FF2B5EF4-FFF2-40B4-BE49-F238E27FC236}">
                <a16:creationId xmlns:a16="http://schemas.microsoft.com/office/drawing/2014/main" id="{93300915-2B64-41F1-8F9E-2D0AF5990B63}"/>
              </a:ext>
            </a:extLst>
          </p:cNvPr>
          <p:cNvSpPr>
            <a:spLocks xmlns:a="http://schemas.openxmlformats.org/drawingml/2006/main" noGrp="1"/>
          </p:cNvSpPr>
          <p:nvPr/>
        </p:nvSpPr>
        <p:spPr>
          <a:xfrm xmlns:a="http://schemas.openxmlformats.org/drawingml/2006/main">
            <a:off x="6191250" y="22002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Terraform formatting and validation across six roots/modules.</a:t>
            </a:r>
          </a:p>
        </p:txBody>
      </p:sp>
      <p:sp>
        <p:nvSpPr>
          <p:cNvPr id="8" name="">
            <a:extLst xmlns:a="http://schemas.openxmlformats.org/drawingml/2006/main">
              <a:ext uri="{FF2B5EF4-FFF2-40B4-BE49-F238E27FC236}">
                <a16:creationId xmlns:a16="http://schemas.microsoft.com/office/drawing/2014/main" id="{4E5C0442-117E-4843-A593-B30D61DC3B68}"/>
              </a:ext>
            </a:extLst>
          </p:cNvPr>
          <p:cNvSpPr>
            <a:spLocks xmlns:a="http://schemas.openxmlformats.org/drawingml/2006/main" noGrp="1"/>
          </p:cNvSpPr>
          <p:nvPr/>
        </p:nvSpPr>
        <p:spPr>
          <a:xfrm xmlns:a="http://schemas.openxmlformats.org/drawingml/2006/main">
            <a:off x="6191250" y="30861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Deployment checks</a:t>
            </a:r>
          </a:p>
        </p:txBody>
      </p:sp>
      <p:sp>
        <p:nvSpPr>
          <p:cNvPr id="9" name="">
            <a:extLst xmlns:a="http://schemas.openxmlformats.org/drawingml/2006/main">
              <a:ext uri="{FF2B5EF4-FFF2-40B4-BE49-F238E27FC236}">
                <a16:creationId xmlns:a16="http://schemas.microsoft.com/office/drawing/2014/main" id="{328EA92A-D9A0-483F-9BAF-6F275426853C}"/>
              </a:ext>
            </a:extLst>
          </p:cNvPr>
          <p:cNvSpPr>
            <a:spLocks xmlns:a="http://schemas.openxmlformats.org/drawingml/2006/main" noGrp="1"/>
          </p:cNvSpPr>
          <p:nvPr/>
        </p:nvSpPr>
        <p:spPr>
          <a:xfrm xmlns:a="http://schemas.openxmlformats.org/drawingml/2006/main">
            <a:off x="6191250" y="34385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Helm render checks for built-in, llama.cpp and vLLM configurations.</a:t>
            </a:r>
          </a:p>
        </p:txBody>
      </p:sp>
      <p:sp>
        <p:nvSpPr>
          <p:cNvPr id="10" name="">
            <a:extLst xmlns:a="http://schemas.openxmlformats.org/drawingml/2006/main">
              <a:ext uri="{FF2B5EF4-FFF2-40B4-BE49-F238E27FC236}">
                <a16:creationId xmlns:a16="http://schemas.microsoft.com/office/drawing/2014/main" id="{42F82A9B-CA3E-4DF7-962B-62C00132CEF1}"/>
              </a:ext>
            </a:extLst>
          </p:cNvPr>
          <p:cNvSpPr>
            <a:spLocks xmlns:a="http://schemas.openxmlformats.org/drawingml/2006/main" noGrp="1"/>
          </p:cNvSpPr>
          <p:nvPr/>
        </p:nvSpPr>
        <p:spPr>
          <a:xfrm xmlns:a="http://schemas.openxmlformats.org/drawingml/2006/main">
            <a:off x="6191250" y="43243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Security and policy</a:t>
            </a:r>
          </a:p>
        </p:txBody>
      </p:sp>
      <p:sp>
        <p:nvSpPr>
          <p:cNvPr id="11" name="">
            <a:extLst xmlns:a="http://schemas.openxmlformats.org/drawingml/2006/main">
              <a:ext uri="{FF2B5EF4-FFF2-40B4-BE49-F238E27FC236}">
                <a16:creationId xmlns:a16="http://schemas.microsoft.com/office/drawing/2014/main" id="{C086A82E-1A12-414D-BB4D-3BF3DBF94B49}"/>
              </a:ext>
            </a:extLst>
          </p:cNvPr>
          <p:cNvSpPr>
            <a:spLocks xmlns:a="http://schemas.openxmlformats.org/drawingml/2006/main" noGrp="1"/>
          </p:cNvSpPr>
          <p:nvPr/>
        </p:nvSpPr>
        <p:spPr>
          <a:xfrm xmlns:a="http://schemas.openxmlformats.org/drawingml/2006/main">
            <a:off x="6191250" y="46767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Conftest suites and image scanning in GitHub Actions.</a:t>
            </a:r>
          </a:p>
        </p:txBody>
      </p:sp>
      <p:sp>
        <p:nvSpPr>
          <p:cNvPr id="12" name="">
            <a:extLst xmlns:a="http://schemas.openxmlformats.org/drawingml/2006/main">
              <a:ext uri="{FF2B5EF4-FFF2-40B4-BE49-F238E27FC236}">
                <a16:creationId xmlns:a16="http://schemas.microsoft.com/office/drawing/2014/main" id="{6785754E-4FBD-4529-AEF5-DB5D66AE3CFC}"/>
              </a:ext>
            </a:extLst>
          </p:cNvPr>
          <p:cNvSpPr>
            <a:spLocks xmlns:a="http://schemas.openxmlformats.org/drawingml/2006/main" noGrp="1"/>
          </p:cNvSpPr>
          <p:nvPr/>
        </p:nvSpPr>
        <p:spPr>
          <a:xfrm xmlns:a="http://schemas.openxmlformats.org/drawingml/2006/main">
            <a:off x="609600" y="5857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6601E"/>
                </a:solidFill>
                <a:latin typeface="Arial"/>
                <a:ea typeface="Arial"/>
                <a:cs typeface="Arial"/>
              </a:defRPr>
            </a:defPPr>
          </a:lstStyle>
          <a:p xmlns:a="http://schemas.openxmlformats.org/drawingml/2006/main">
            <a:pPr>
              <a:defRPr sz="1575" b="0">
                <a:solidFill>
                  <a:srgbClr val="B6601E"/>
                </a:solidFill>
                <a:latin typeface="Arial"/>
                <a:ea typeface="Arial"/>
                <a:cs typeface="Arial"/>
              </a:defRPr>
            </a:pPr>
            <a:r>
              <a:rPr sz="1575" b="0">
                <a:solidFill>
                  <a:srgbClr val="B6601E"/>
                </a:solidFill>
                <a:latin typeface="Arial"/>
                <a:ea typeface="Arial"/>
                <a:cs typeface="Arial"/>
              </a:rPr>
              <a:t>Fresh local checks pass. Remote CI needs rechecking after the zone-selection repair.</a:t>
            </a:r>
          </a:p>
        </p:txBody>
      </p:sp>
    </p:spTree>
    <p:extLst>
      <p:ext uri="{BB962C8B-B14F-4D97-AF65-F5344CB8AC3E}">
        <p14:creationId xmlns:p14="http://schemas.microsoft.com/office/powerpoint/2010/main" val="12971459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2A94B7-6258-4B6C-8CC7-DB5EE3356454}"/>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Measured prototype performance</a:t>
            </a:r>
          </a:p>
        </p:txBody>
      </p:sp>
      <p:sp>
        <p:nvSpPr>
          <p:cNvPr id="2" name="">
            <a:extLst xmlns:a="http://schemas.openxmlformats.org/drawingml/2006/main">
              <a:ext uri="{FF2B5EF4-FFF2-40B4-BE49-F238E27FC236}">
                <a16:creationId xmlns:a16="http://schemas.microsoft.com/office/drawing/2014/main" id="{B24936D4-972F-45B9-AB9F-05AC19B4EBFC}"/>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6 / 8</a:t>
            </a:r>
          </a:p>
        </p:txBody>
      </p:sp>
      <p:sp>
        <p:nvSpPr>
          <p:cNvPr id="3" name="">
            <a:extLst xmlns:a="http://schemas.openxmlformats.org/drawingml/2006/main">
              <a:ext uri="{FF2B5EF4-FFF2-40B4-BE49-F238E27FC236}">
                <a16:creationId xmlns:a16="http://schemas.microsoft.com/office/drawing/2014/main" id="{111E089B-7176-4EF1-A3E9-16A0D6D7324A}"/>
              </a:ext>
            </a:extLst>
          </p:cNvPr>
          <p:cNvSpPr>
            <a:spLocks xmlns:a="http://schemas.openxmlformats.org/drawingml/2006/main" noGrp="1"/>
          </p:cNvSpPr>
          <p:nvPr/>
        </p:nvSpPr>
        <p:spPr>
          <a:xfrm xmlns:a="http://schemas.openxmlformats.org/drawingml/2006/main">
            <a:off x="609600" y="1619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1636B"/>
                </a:solidFill>
                <a:latin typeface="Arial"/>
                <a:ea typeface="Arial"/>
                <a:cs typeface="Arial"/>
              </a:defRPr>
            </a:defPPr>
          </a:lstStyle>
          <a:p xmlns:a="http://schemas.openxmlformats.org/drawingml/2006/main">
            <a:pPr>
              <a:defRPr sz="2100" b="0">
                <a:solidFill>
                  <a:srgbClr val="51636B"/>
                </a:solidFill>
                <a:latin typeface="Arial"/>
                <a:ea typeface="Arial"/>
                <a:cs typeface="Arial"/>
              </a:defRPr>
            </a:pPr>
            <a:r>
              <a:rPr sz="2100" b="0">
                <a:solidFill>
                  <a:srgbClr val="51636B"/>
                </a:solidFill>
                <a:latin typeface="Arial"/>
                <a:ea typeface="Arial"/>
                <a:cs typeface="Arial"/>
              </a:rPr>
              <a:t>Completion tokens per second at one virtual user</a:t>
            </a:r>
          </a:p>
        </p:txBody>
      </p:sp>
      <p:graphicFrame>
        <p:nvGraphicFramePr>
          <p:cNvPr id="4" name="Chart">
            <a:extLst xmlns:a="http://schemas.openxmlformats.org/drawingml/2006/main">
              <a:ext uri="{FF2B5EF4-FFF2-40B4-BE49-F238E27FC236}">
                <a16:creationId xmlns:a16="http://schemas.microsoft.com/office/drawing/2014/main" id="{4E9A3E7E-FAE7-425B-A7A4-6D115924C701}"/>
              </a:ext>
            </a:extLst>
          </p:cNvPr>
          <p:cNvGraphicFramePr/>
          <p:nvPr/>
        </p:nvGraphicFramePr>
        <p:xfrm>
          <a:off xmlns:a="http://schemas.openxmlformats.org/drawingml/2006/main" x="609600" y="2362200"/>
          <a:ext xmlns:a="http://schemas.openxmlformats.org/drawingml/2006/main" cx="6762750" cy="2905125"/>
        </p:xfrm>
        <a:graphic xmlns:a="http://schemas.openxmlformats.org/drawingml/2006/main">
          <a:graphicData uri="http://schemas.openxmlformats.org/drawingml/2006/chart">
            <c:chart xmlns:r="http://schemas.openxmlformats.org/officeDocument/2006/relationships" xmlns:c="http://schemas.openxmlformats.org/drawingml/2006/chart" r:id="Rb3cdce87cf6f4a08"/>
          </a:graphicData>
        </a:graphic>
      </p:graphicFrame>
      <p:sp>
        <p:nvSpPr>
          <p:cNvPr id="5" name="">
            <a:extLst xmlns:a="http://schemas.openxmlformats.org/drawingml/2006/main">
              <a:ext uri="{FF2B5EF4-FFF2-40B4-BE49-F238E27FC236}">
                <a16:creationId xmlns:a16="http://schemas.microsoft.com/office/drawing/2014/main" id="{4896B813-1B7D-4FB5-8259-7BC13AAF905C}"/>
              </a:ext>
            </a:extLst>
          </p:cNvPr>
          <p:cNvSpPr>
            <a:spLocks xmlns:a="http://schemas.openxmlformats.org/drawingml/2006/main" noGrp="1"/>
          </p:cNvSpPr>
          <p:nvPr/>
        </p:nvSpPr>
        <p:spPr>
          <a:xfrm xmlns:a="http://schemas.openxmlformats.org/drawingml/2006/main">
            <a:off x="8020050" y="24765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0.80 s</a:t>
            </a:r>
          </a:p>
        </p:txBody>
      </p:sp>
      <p:sp>
        <p:nvSpPr>
          <p:cNvPr id="6" name="">
            <a:extLst xmlns:a="http://schemas.openxmlformats.org/drawingml/2006/main">
              <a:ext uri="{FF2B5EF4-FFF2-40B4-BE49-F238E27FC236}">
                <a16:creationId xmlns:a16="http://schemas.microsoft.com/office/drawing/2014/main" id="{748070FF-34B2-4138-8161-3AE9446CCD0B}"/>
              </a:ext>
            </a:extLst>
          </p:cNvPr>
          <p:cNvSpPr>
            <a:spLocks xmlns:a="http://schemas.openxmlformats.org/drawingml/2006/main" noGrp="1"/>
          </p:cNvSpPr>
          <p:nvPr/>
        </p:nvSpPr>
        <p:spPr>
          <a:xfrm xmlns:a="http://schemas.openxmlformats.org/drawingml/2006/main">
            <a:off x="8020050" y="2828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Upstream llama.cpp P95 latency</a:t>
            </a:r>
          </a:p>
        </p:txBody>
      </p:sp>
      <p:sp>
        <p:nvSpPr>
          <p:cNvPr id="7" name="">
            <a:extLst xmlns:a="http://schemas.openxmlformats.org/drawingml/2006/main">
              <a:ext uri="{FF2B5EF4-FFF2-40B4-BE49-F238E27FC236}">
                <a16:creationId xmlns:a16="http://schemas.microsoft.com/office/drawing/2014/main" id="{E1B7FA8A-ED48-476A-A9B7-6AD93F672DC7}"/>
              </a:ext>
            </a:extLst>
          </p:cNvPr>
          <p:cNvSpPr>
            <a:spLocks xmlns:a="http://schemas.openxmlformats.org/drawingml/2006/main" noGrp="1"/>
          </p:cNvSpPr>
          <p:nvPr/>
        </p:nvSpPr>
        <p:spPr>
          <a:xfrm xmlns:a="http://schemas.openxmlformats.org/drawingml/2006/main">
            <a:off x="8020050" y="37814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0"/>
                </a:solidFill>
                <a:latin typeface="Arial"/>
                <a:ea typeface="Arial"/>
                <a:cs typeface="Arial"/>
              </a:defRPr>
            </a:defPPr>
          </a:lstStyle>
          <a:p xmlns:a="http://schemas.openxmlformats.org/drawingml/2006/main">
            <a:pPr>
              <a:defRPr sz="2025" b="1">
                <a:solidFill>
                  <a:srgbClr val="087E70"/>
                </a:solidFill>
                <a:latin typeface="Arial"/>
                <a:ea typeface="Arial"/>
                <a:cs typeface="Arial"/>
              </a:defRPr>
            </a:pPr>
            <a:r>
              <a:rPr sz="2025" b="1">
                <a:solidFill>
                  <a:srgbClr val="087E70"/>
                </a:solidFill>
                <a:latin typeface="Arial"/>
                <a:ea typeface="Arial"/>
                <a:cs typeface="Arial"/>
              </a:rPr>
              <a:t>12.5 s</a:t>
            </a:r>
          </a:p>
        </p:txBody>
      </p:sp>
      <p:sp>
        <p:nvSpPr>
          <p:cNvPr id="8" name="">
            <a:extLst xmlns:a="http://schemas.openxmlformats.org/drawingml/2006/main">
              <a:ext uri="{FF2B5EF4-FFF2-40B4-BE49-F238E27FC236}">
                <a16:creationId xmlns:a16="http://schemas.microsoft.com/office/drawing/2014/main" id="{AC170245-ADEE-4265-BD19-C5EB72C7CDA1}"/>
              </a:ext>
            </a:extLst>
          </p:cNvPr>
          <p:cNvSpPr>
            <a:spLocks xmlns:a="http://schemas.openxmlformats.org/drawingml/2006/main" noGrp="1"/>
          </p:cNvSpPr>
          <p:nvPr/>
        </p:nvSpPr>
        <p:spPr>
          <a:xfrm xmlns:a="http://schemas.openxmlformats.org/drawingml/2006/main">
            <a:off x="8020050" y="4133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1636B"/>
                </a:solidFill>
                <a:latin typeface="Arial"/>
                <a:ea typeface="Arial"/>
                <a:cs typeface="Arial"/>
              </a:defRPr>
            </a:defPPr>
          </a:lstStyle>
          <a:p xmlns:a="http://schemas.openxmlformats.org/drawingml/2006/main">
            <a:pPr>
              <a:defRPr sz="1650" b="0">
                <a:solidFill>
                  <a:srgbClr val="51636B"/>
                </a:solidFill>
                <a:latin typeface="Arial"/>
                <a:ea typeface="Arial"/>
                <a:cs typeface="Arial"/>
              </a:defRPr>
            </a:pPr>
            <a:r>
              <a:rPr sz="1650" b="0">
                <a:solidFill>
                  <a:srgbClr val="51636B"/>
                </a:solidFill>
                <a:latin typeface="Arial"/>
                <a:ea typeface="Arial"/>
                <a:cs typeface="Arial"/>
              </a:rPr>
              <a:t>Endpoint recovery after a pod kill</a:t>
            </a:r>
          </a:p>
        </p:txBody>
      </p:sp>
      <p:sp>
        <p:nvSpPr>
          <p:cNvPr id="9" name="">
            <a:extLst xmlns:a="http://schemas.openxmlformats.org/drawingml/2006/main">
              <a:ext uri="{FF2B5EF4-FFF2-40B4-BE49-F238E27FC236}">
                <a16:creationId xmlns:a16="http://schemas.microsoft.com/office/drawing/2014/main" id="{81A6CA50-27F6-46A9-BC88-E49A3FEBD37F}"/>
              </a:ext>
            </a:extLst>
          </p:cNvPr>
          <p:cNvSpPr>
            <a:spLocks xmlns:a="http://schemas.openxmlformats.org/drawingml/2006/main" noGrp="1"/>
          </p:cNvSpPr>
          <p:nvPr/>
        </p:nvSpPr>
        <p:spPr>
          <a:xfrm xmlns:a="http://schemas.openxmlformats.org/drawingml/2006/main">
            <a:off x="609600" y="56673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36B"/>
                </a:solidFill>
                <a:latin typeface="Arial"/>
                <a:ea typeface="Arial"/>
                <a:cs typeface="Arial"/>
              </a:defRPr>
            </a:defPPr>
          </a:lstStyle>
          <a:p xmlns:a="http://schemas.openxmlformats.org/drawingml/2006/main">
            <a:pPr>
              <a:defRPr sz="1575" b="0">
                <a:solidFill>
                  <a:srgbClr val="51636B"/>
                </a:solidFill>
                <a:latin typeface="Arial"/>
                <a:ea typeface="Arial"/>
                <a:cs typeface="Arial"/>
              </a:defRPr>
            </a:pPr>
            <a:r>
              <a:rPr sz="1575" b="0">
                <a:solidFill>
                  <a:srgbClr val="51636B"/>
                </a:solidFill>
                <a:latin typeface="Arial"/>
                <a:ea typeface="Arial"/>
                <a:cs typeface="Arial"/>
              </a:rPr>
              <a:t>Historical local runs, September 16, 2026. Qwen 0.5B, 2 CPU threads, 32 output tokens.</a:t>
            </a:r>
          </a:p>
        </p:txBody>
      </p:sp>
      <p:sp>
        <p:nvSpPr>
          <p:cNvPr id="10" name="">
            <a:extLst xmlns:a="http://schemas.openxmlformats.org/drawingml/2006/main">
              <a:ext uri="{FF2B5EF4-FFF2-40B4-BE49-F238E27FC236}">
                <a16:creationId xmlns:a16="http://schemas.microsoft.com/office/drawing/2014/main" id="{B5E47B50-2CEB-4B2A-85EE-63A64125DD0F}"/>
              </a:ext>
            </a:extLst>
          </p:cNvPr>
          <p:cNvSpPr>
            <a:spLocks xmlns:a="http://schemas.openxmlformats.org/drawingml/2006/main" noGrp="1"/>
          </p:cNvSpPr>
          <p:nvPr/>
        </p:nvSpPr>
        <p:spPr>
          <a:xfrm xmlns:a="http://schemas.openxmlformats.org/drawingml/2006/main">
            <a:off x="609600" y="61245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1636B"/>
                </a:solidFill>
                <a:latin typeface="Arial"/>
                <a:ea typeface="Arial"/>
                <a:cs typeface="Arial"/>
              </a:defRPr>
            </a:defPPr>
          </a:lstStyle>
          <a:p xmlns:a="http://schemas.openxmlformats.org/drawingml/2006/main">
            <a:pPr>
              <a:defRPr sz="1425" b="0">
                <a:solidFill>
                  <a:srgbClr val="51636B"/>
                </a:solidFill>
                <a:latin typeface="Arial"/>
                <a:ea typeface="Arial"/>
                <a:cs typeface="Arial"/>
              </a:defRPr>
            </a:pPr>
            <a:r>
              <a:rPr sz="1425" b="0">
                <a:solidFill>
                  <a:srgbClr val="51636B"/>
                </a:solidFill>
                <a:latin typeface="Arial"/>
                <a:ea typeface="Arial"/>
                <a:cs typeface="Arial"/>
              </a:rPr>
              <a:t>Engine builds differ. These results are not AWS benchmarks or production guarantees.</a:t>
            </a:r>
          </a:p>
        </p:txBody>
      </p:sp>
    </p:spTree>
    <p:extLst>
      <p:ext uri="{BB962C8B-B14F-4D97-AF65-F5344CB8AC3E}">
        <p14:creationId xmlns:p14="http://schemas.microsoft.com/office/powerpoint/2010/main" val="2125683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E302DC-67B6-4C17-BC11-4D0E7A4A654B}"/>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A32"/>
                </a:solidFill>
                <a:latin typeface="Arial"/>
                <a:ea typeface="Arial"/>
                <a:cs typeface="Arial"/>
              </a:defRPr>
            </a:defPPr>
          </a:lstStyle>
          <a:p xmlns:a="http://schemas.openxmlformats.org/drawingml/2006/main">
            <a:pPr>
              <a:defRPr sz="3300" b="1">
                <a:solidFill>
                  <a:srgbClr val="152A32"/>
                </a:solidFill>
                <a:latin typeface="Arial"/>
                <a:ea typeface="Arial"/>
                <a:cs typeface="Arial"/>
              </a:defRPr>
            </a:pPr>
            <a:r>
              <a:rPr sz="3300" b="1">
                <a:solidFill>
                  <a:srgbClr val="152A32"/>
                </a:solidFill>
                <a:latin typeface="Arial"/>
                <a:ea typeface="Arial"/>
                <a:cs typeface="Arial"/>
              </a:rPr>
              <a:t>Challenges and remaining work</a:t>
            </a:r>
          </a:p>
        </p:txBody>
      </p:sp>
      <p:sp>
        <p:nvSpPr>
          <p:cNvPr id="2" name="">
            <a:extLst xmlns:a="http://schemas.openxmlformats.org/drawingml/2006/main">
              <a:ext uri="{FF2B5EF4-FFF2-40B4-BE49-F238E27FC236}">
                <a16:creationId xmlns:a16="http://schemas.microsoft.com/office/drawing/2014/main" id="{C6188619-3102-47BD-A09C-FE59B530038B}"/>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36B"/>
                </a:solidFill>
                <a:latin typeface="Arial"/>
                <a:ea typeface="Arial"/>
                <a:cs typeface="Arial"/>
              </a:defRPr>
            </a:defPPr>
          </a:lstStyle>
          <a:p xmlns:a="http://schemas.openxmlformats.org/drawingml/2006/main">
            <a:pPr>
              <a:defRPr sz="1200" b="0">
                <a:solidFill>
                  <a:srgbClr val="51636B"/>
                </a:solidFill>
                <a:latin typeface="Arial"/>
                <a:ea typeface="Arial"/>
                <a:cs typeface="Arial"/>
              </a:defRPr>
            </a:pPr>
            <a:r>
              <a:rPr sz="1200" b="0">
                <a:solidFill>
                  <a:srgbClr val="51636B"/>
                </a:solidFill>
                <a:latin typeface="Arial"/>
                <a:ea typeface="Arial"/>
                <a:cs typeface="Arial"/>
              </a:rPr>
              <a:t>7 / 8</a:t>
            </a:r>
          </a:p>
        </p:txBody>
      </p:sp>
      <p:sp>
        <p:nvSpPr>
          <p:cNvPr id="3" name="">
            <a:extLst xmlns:a="http://schemas.openxmlformats.org/drawingml/2006/main">
              <a:ext uri="{FF2B5EF4-FFF2-40B4-BE49-F238E27FC236}">
                <a16:creationId xmlns:a16="http://schemas.microsoft.com/office/drawing/2014/main" id="{04C98648-067D-4DD5-BDFA-2708EA8732C0}"/>
              </a:ext>
            </a:extLst>
          </p:cNvPr>
          <p:cNvSpPr>
            <a:spLocks xmlns:a="http://schemas.openxmlformats.org/drawingml/2006/main" noGrp="1"/>
          </p:cNvSpPr>
          <p:nvPr/>
        </p:nvSpPr>
        <p:spPr>
          <a:xfrm xmlns:a="http://schemas.openxmlformats.org/drawingml/2006/main">
            <a:off x="609600" y="1714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70"/>
                </a:solidFill>
                <a:latin typeface="Arial"/>
                <a:ea typeface="Arial"/>
                <a:cs typeface="Arial"/>
              </a:defRPr>
            </a:defPPr>
          </a:lstStyle>
          <a:p xmlns:a="http://schemas.openxmlformats.org/drawingml/2006/main">
            <a:pPr>
              <a:defRPr sz="2175" b="1">
                <a:solidFill>
                  <a:srgbClr val="087E70"/>
                </a:solidFill>
                <a:latin typeface="Arial"/>
                <a:ea typeface="Arial"/>
                <a:cs typeface="Arial"/>
              </a:defRPr>
            </a:pPr>
            <a:r>
              <a:rPr sz="2175" b="1">
                <a:solidFill>
                  <a:srgbClr val="087E70"/>
                </a:solidFill>
                <a:latin typeface="Arial"/>
                <a:ea typeface="Arial"/>
                <a:cs typeface="Arial"/>
              </a:rPr>
              <a:t>Challenge</a:t>
            </a:r>
          </a:p>
        </p:txBody>
      </p:sp>
      <p:sp>
        <p:nvSpPr>
          <p:cNvPr id="4" name="">
            <a:extLst xmlns:a="http://schemas.openxmlformats.org/drawingml/2006/main">
              <a:ext uri="{FF2B5EF4-FFF2-40B4-BE49-F238E27FC236}">
                <a16:creationId xmlns:a16="http://schemas.microsoft.com/office/drawing/2014/main" id="{9CEAEB5F-44B9-4846-94AD-6000B8F6B084}"/>
              </a:ext>
            </a:extLst>
          </p:cNvPr>
          <p:cNvSpPr>
            <a:spLocks xmlns:a="http://schemas.openxmlformats.org/drawingml/2006/main" noGrp="1"/>
          </p:cNvSpPr>
          <p:nvPr/>
        </p:nvSpPr>
        <p:spPr>
          <a:xfrm xmlns:a="http://schemas.openxmlformats.org/drawingml/2006/main">
            <a:off x="5810250" y="1714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70"/>
                </a:solidFill>
                <a:latin typeface="Arial"/>
                <a:ea typeface="Arial"/>
                <a:cs typeface="Arial"/>
              </a:defRPr>
            </a:defPPr>
          </a:lstStyle>
          <a:p xmlns:a="http://schemas.openxmlformats.org/drawingml/2006/main">
            <a:pPr>
              <a:defRPr sz="2175" b="1">
                <a:solidFill>
                  <a:srgbClr val="087E70"/>
                </a:solidFill>
                <a:latin typeface="Arial"/>
                <a:ea typeface="Arial"/>
                <a:cs typeface="Arial"/>
              </a:defRPr>
            </a:pPr>
            <a:r>
              <a:rPr sz="2175" b="1">
                <a:solidFill>
                  <a:srgbClr val="087E70"/>
                </a:solidFill>
                <a:latin typeface="Arial"/>
                <a:ea typeface="Arial"/>
                <a:cs typeface="Arial"/>
              </a:rPr>
              <a:t>Response and next milestone</a:t>
            </a:r>
          </a:p>
        </p:txBody>
      </p:sp>
      <p:sp>
        <p:nvSpPr>
          <p:cNvPr id="5" name="">
            <a:extLst xmlns:a="http://schemas.openxmlformats.org/drawingml/2006/main">
              <a:ext uri="{FF2B5EF4-FFF2-40B4-BE49-F238E27FC236}">
                <a16:creationId xmlns:a16="http://schemas.microsoft.com/office/drawing/2014/main" id="{67A74AA5-2DC3-4956-87A9-818AD821D9ED}"/>
              </a:ext>
            </a:extLst>
          </p:cNvPr>
          <p:cNvSpPr>
            <a:spLocks xmlns:a="http://schemas.openxmlformats.org/drawingml/2006/main" noGrp="1"/>
          </p:cNvSpPr>
          <p:nvPr/>
        </p:nvSpPr>
        <p:spPr>
          <a:xfrm xmlns:a="http://schemas.openxmlformats.org/drawingml/2006/main">
            <a:off x="609600" y="2381250"/>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A32"/>
                </a:solidFill>
                <a:latin typeface="Arial"/>
                <a:ea typeface="Arial"/>
                <a:cs typeface="Arial"/>
              </a:defRPr>
            </a:defPPr>
          </a:lstStyle>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Laptop memory and CPU pressure</a:t>
            </a:r>
          </a:p>
        </p:txBody>
      </p:sp>
      <p:sp>
        <p:nvSpPr>
          <p:cNvPr id="6" name="">
            <a:extLst xmlns:a="http://schemas.openxmlformats.org/drawingml/2006/main">
              <a:ext uri="{FF2B5EF4-FFF2-40B4-BE49-F238E27FC236}">
                <a16:creationId xmlns:a16="http://schemas.microsoft.com/office/drawing/2014/main" id="{485BE4E2-E935-4D2C-AB07-84AFA762D12C}"/>
              </a:ext>
            </a:extLst>
          </p:cNvPr>
          <p:cNvSpPr>
            <a:spLocks xmlns:a="http://schemas.openxmlformats.org/drawingml/2006/main" noGrp="1"/>
          </p:cNvSpPr>
          <p:nvPr/>
        </p:nvSpPr>
        <p:spPr>
          <a:xfrm xmlns:a="http://schemas.openxmlformats.org/drawingml/2006/main">
            <a:off x="5810250" y="23812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One workload at a time, pre-pulled images, paused add-ons.</a:t>
            </a:r>
          </a:p>
        </p:txBody>
      </p:sp>
      <p:sp>
        <p:nvSpPr>
          <p:cNvPr id="7" name="">
            <a:extLst xmlns:a="http://schemas.openxmlformats.org/drawingml/2006/main">
              <a:ext uri="{FF2B5EF4-FFF2-40B4-BE49-F238E27FC236}">
                <a16:creationId xmlns:a16="http://schemas.microsoft.com/office/drawing/2014/main" id="{B438E1B9-385A-42BA-875F-35A129D341B5}"/>
              </a:ext>
            </a:extLst>
          </p:cNvPr>
          <p:cNvSpPr>
            <a:spLocks xmlns:a="http://schemas.openxmlformats.org/drawingml/2006/main" noGrp="1"/>
          </p:cNvSpPr>
          <p:nvPr/>
        </p:nvSpPr>
        <p:spPr>
          <a:xfrm xmlns:a="http://schemas.openxmlformats.org/drawingml/2006/main">
            <a:off x="609600" y="3162300"/>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A32"/>
                </a:solidFill>
                <a:latin typeface="Arial"/>
                <a:ea typeface="Arial"/>
                <a:cs typeface="Arial"/>
              </a:defRPr>
            </a:defPPr>
          </a:lstStyle>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Academy service and IAM restrictions</a:t>
            </a:r>
          </a:p>
        </p:txBody>
      </p:sp>
      <p:sp>
        <p:nvSpPr>
          <p:cNvPr id="8" name="">
            <a:extLst xmlns:a="http://schemas.openxmlformats.org/drawingml/2006/main">
              <a:ext uri="{FF2B5EF4-FFF2-40B4-BE49-F238E27FC236}">
                <a16:creationId xmlns:a16="http://schemas.microsoft.com/office/drawing/2014/main" id="{610EA3AA-B6EA-4268-B646-87577487F4CE}"/>
              </a:ext>
            </a:extLst>
          </p:cNvPr>
          <p:cNvSpPr>
            <a:spLocks xmlns:a="http://schemas.openxmlformats.org/drawingml/2006/main" noGrp="1"/>
          </p:cNvSpPr>
          <p:nvPr/>
        </p:nvSpPr>
        <p:spPr>
          <a:xfrm xmlns:a="http://schemas.openxmlformats.org/drawingml/2006/main">
            <a:off x="5810250" y="316230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Verify a small EC2 deployment before attempting EKS.</a:t>
            </a:r>
          </a:p>
        </p:txBody>
      </p:sp>
      <p:sp>
        <p:nvSpPr>
          <p:cNvPr id="9" name="">
            <a:extLst xmlns:a="http://schemas.openxmlformats.org/drawingml/2006/main">
              <a:ext uri="{FF2B5EF4-FFF2-40B4-BE49-F238E27FC236}">
                <a16:creationId xmlns:a16="http://schemas.microsoft.com/office/drawing/2014/main" id="{02AD29A0-E6BA-4CE8-81D1-7FB9992E7E38}"/>
              </a:ext>
            </a:extLst>
          </p:cNvPr>
          <p:cNvSpPr>
            <a:spLocks xmlns:a="http://schemas.openxmlformats.org/drawingml/2006/main" noGrp="1"/>
          </p:cNvSpPr>
          <p:nvPr/>
        </p:nvSpPr>
        <p:spPr>
          <a:xfrm xmlns:a="http://schemas.openxmlformats.org/drawingml/2006/main">
            <a:off x="609600" y="3943350"/>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A32"/>
                </a:solidFill>
                <a:latin typeface="Arial"/>
                <a:ea typeface="Arial"/>
                <a:cs typeface="Arial"/>
              </a:defRPr>
            </a:defPPr>
          </a:lstStyle>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Ingress monitoring blind spot</a:t>
            </a:r>
          </a:p>
        </p:txBody>
      </p:sp>
      <p:sp>
        <p:nvSpPr>
          <p:cNvPr id="10" name="">
            <a:extLst xmlns:a="http://schemas.openxmlformats.org/drawingml/2006/main">
              <a:ext uri="{FF2B5EF4-FFF2-40B4-BE49-F238E27FC236}">
                <a16:creationId xmlns:a16="http://schemas.microsoft.com/office/drawing/2014/main" id="{594A496D-F9E8-45F4-A00E-7E8267BF4F3D}"/>
              </a:ext>
            </a:extLst>
          </p:cNvPr>
          <p:cNvSpPr>
            <a:spLocks xmlns:a="http://schemas.openxmlformats.org/drawingml/2006/main" noGrp="1"/>
          </p:cNvSpPr>
          <p:nvPr/>
        </p:nvSpPr>
        <p:spPr>
          <a:xfrm xmlns:a="http://schemas.openxmlformats.org/drawingml/2006/main">
            <a:off x="5810250" y="39433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Add an external probe and retest recovery in AWS.</a:t>
            </a:r>
          </a:p>
        </p:txBody>
      </p:sp>
      <p:sp>
        <p:nvSpPr>
          <p:cNvPr id="11" name="">
            <a:extLst xmlns:a="http://schemas.openxmlformats.org/drawingml/2006/main">
              <a:ext uri="{FF2B5EF4-FFF2-40B4-BE49-F238E27FC236}">
                <a16:creationId xmlns:a16="http://schemas.microsoft.com/office/drawing/2014/main" id="{D51D0F01-0E17-4DBB-9325-449C14DD7DDF}"/>
              </a:ext>
            </a:extLst>
          </p:cNvPr>
          <p:cNvSpPr>
            <a:spLocks xmlns:a="http://schemas.openxmlformats.org/drawingml/2006/main" noGrp="1"/>
          </p:cNvSpPr>
          <p:nvPr/>
        </p:nvSpPr>
        <p:spPr>
          <a:xfrm xmlns:a="http://schemas.openxmlformats.org/drawingml/2006/main">
            <a:off x="609600" y="4724400"/>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A32"/>
                </a:solidFill>
                <a:latin typeface="Arial"/>
                <a:ea typeface="Arial"/>
                <a:cs typeface="Arial"/>
              </a:defRPr>
            </a:defPPr>
          </a:lstStyle>
          <a:p xmlns:a="http://schemas.openxmlformats.org/drawingml/2006/main">
            <a:pPr>
              <a:defRPr sz="1875" b="0">
                <a:solidFill>
                  <a:srgbClr val="152A32"/>
                </a:solidFill>
                <a:latin typeface="Arial"/>
                <a:ea typeface="Arial"/>
                <a:cs typeface="Arial"/>
              </a:defRPr>
            </a:pPr>
            <a:r>
              <a:rPr sz="1875" b="0">
                <a:solidFill>
                  <a:srgbClr val="152A32"/>
                </a:solidFill>
                <a:latin typeface="Arial"/>
                <a:ea typeface="Arial"/>
                <a:cs typeface="Arial"/>
              </a:rPr>
              <a:t>Unverified advanced paths</a:t>
            </a:r>
          </a:p>
        </p:txBody>
      </p:sp>
      <p:sp>
        <p:nvSpPr>
          <p:cNvPr id="12" name="">
            <a:extLst xmlns:a="http://schemas.openxmlformats.org/drawingml/2006/main">
              <a:ext uri="{FF2B5EF4-FFF2-40B4-BE49-F238E27FC236}">
                <a16:creationId xmlns:a16="http://schemas.microsoft.com/office/drawing/2014/main" id="{0EA27567-B8B1-4E9C-9F2A-31A499EA63C2}"/>
              </a:ext>
            </a:extLst>
          </p:cNvPr>
          <p:cNvSpPr>
            <a:spLocks xmlns:a="http://schemas.openxmlformats.org/drawingml/2006/main" noGrp="1"/>
          </p:cNvSpPr>
          <p:nvPr/>
        </p:nvSpPr>
        <p:spPr>
          <a:xfrm xmlns:a="http://schemas.openxmlformats.org/drawingml/2006/main">
            <a:off x="5810250" y="472440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36B"/>
                </a:solidFill>
                <a:latin typeface="Arial"/>
                <a:ea typeface="Arial"/>
                <a:cs typeface="Arial"/>
              </a:defRPr>
            </a:defPPr>
          </a:lstStyle>
          <a:p xmlns:a="http://schemas.openxmlformats.org/drawingml/2006/main">
            <a:pPr>
              <a:defRPr sz="1800" b="0">
                <a:solidFill>
                  <a:srgbClr val="51636B"/>
                </a:solidFill>
                <a:latin typeface="Arial"/>
                <a:ea typeface="Arial"/>
                <a:cs typeface="Arial"/>
              </a:defRPr>
            </a:pPr>
            <a:r>
              <a:rPr sz="1800" b="0">
                <a:solidFill>
                  <a:srgbClr val="51636B"/>
                </a:solidFill>
                <a:latin typeface="Arial"/>
                <a:ea typeface="Arial"/>
                <a:cs typeface="Arial"/>
              </a:rPr>
              <a:t>Test GPU serving and a live proposal provider after midpoint.</a:t>
            </a:r>
          </a:p>
        </p:txBody>
      </p:sp>
    </p:spTree>
    <p:extLst>
      <p:ext uri="{BB962C8B-B14F-4D97-AF65-F5344CB8AC3E}">
        <p14:creationId xmlns:p14="http://schemas.microsoft.com/office/powerpoint/2010/main" val="1708653895"/>
      </p:ext>
    </p:extLst>
  </p:cSld>
</p:sld>
</file>

<file path=ppt/slides/slide8.xml><?xml version="1.0" encoding="utf-8"?>
<p:sld xmlns:p="http://schemas.openxmlformats.org/presentationml/2006/main">
  <p:cSld>
    <p:bg>
      <p:bgPr>
        <a:solidFill xmlns:a="http://schemas.openxmlformats.org/drawingml/2006/main">
          <a:srgbClr val="152A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41DC95-7E98-4017-892F-F934D67F2397}"/>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Prototype walkthrough</a:t>
            </a:r>
          </a:p>
        </p:txBody>
      </p:sp>
      <p:sp>
        <p:nvSpPr>
          <p:cNvPr id="2" name="">
            <a:extLst xmlns:a="http://schemas.openxmlformats.org/drawingml/2006/main">
              <a:ext uri="{FF2B5EF4-FFF2-40B4-BE49-F238E27FC236}">
                <a16:creationId xmlns:a16="http://schemas.microsoft.com/office/drawing/2014/main" id="{C912C81A-DFDB-49DC-A922-61F966157271}"/>
              </a:ext>
            </a:extLst>
          </p:cNvPr>
          <p:cNvSpPr>
            <a:spLocks xmlns:a="http://schemas.openxmlformats.org/drawingml/2006/main" noGrp="1"/>
          </p:cNvSpPr>
          <p:nvPr/>
        </p:nvSpPr>
        <p:spPr>
          <a:xfrm xmlns:a="http://schemas.openxmlformats.org/drawingml/2006/main">
            <a:off x="10763250" y="6334125"/>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7CDC9"/>
                </a:solidFill>
                <a:latin typeface="Arial"/>
                <a:ea typeface="Arial"/>
                <a:cs typeface="Arial"/>
              </a:defRPr>
            </a:defPPr>
          </a:lstStyle>
          <a:p xmlns:a="http://schemas.openxmlformats.org/drawingml/2006/main">
            <a:pPr>
              <a:defRPr sz="1200" b="0">
                <a:solidFill>
                  <a:srgbClr val="B7CDC9"/>
                </a:solidFill>
                <a:latin typeface="Arial"/>
                <a:ea typeface="Arial"/>
                <a:cs typeface="Arial"/>
              </a:defRPr>
            </a:pPr>
            <a:r>
              <a:rPr sz="1200" b="0">
                <a:solidFill>
                  <a:srgbClr val="B7CDC9"/>
                </a:solidFill>
                <a:latin typeface="Arial"/>
                <a:ea typeface="Arial"/>
                <a:cs typeface="Arial"/>
              </a:rPr>
              <a:t>8 / 8</a:t>
            </a:r>
          </a:p>
        </p:txBody>
      </p:sp>
      <p:sp>
        <p:nvSpPr>
          <p:cNvPr id="3" name="">
            <a:extLst xmlns:a="http://schemas.openxmlformats.org/drawingml/2006/main">
              <a:ext uri="{FF2B5EF4-FFF2-40B4-BE49-F238E27FC236}">
                <a16:creationId xmlns:a16="http://schemas.microsoft.com/office/drawing/2014/main" id="{57C62956-B766-405E-9F7C-116A2CB988BC}"/>
              </a:ext>
            </a:extLst>
          </p:cNvPr>
          <p:cNvSpPr>
            <a:spLocks xmlns:a="http://schemas.openxmlformats.org/drawingml/2006/main" noGrp="1"/>
          </p:cNvSpPr>
          <p:nvPr/>
        </p:nvSpPr>
        <p:spPr>
          <a:xfrm xmlns:a="http://schemas.openxmlformats.org/drawingml/2006/main">
            <a:off x="609600" y="2000250"/>
            <a:ext cx="1047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D5E7E1"/>
                </a:solidFill>
                <a:latin typeface="Arial"/>
                <a:ea typeface="Arial"/>
                <a:cs typeface="Arial"/>
              </a:defRPr>
            </a:defPPr>
          </a:lstStyle>
          <a:p xmlns:a="http://schemas.openxmlformats.org/drawingml/2006/main">
            <a:pPr>
              <a:defRPr sz="2775" b="0">
                <a:solidFill>
                  <a:srgbClr val="D5E7E1"/>
                </a:solidFill>
                <a:latin typeface="Arial"/>
                <a:ea typeface="Arial"/>
                <a:cs typeface="Arial"/>
              </a:defRPr>
            </a:pPr>
            <a:r>
              <a:rPr sz="2775" b="0">
                <a:solidFill>
                  <a:srgbClr val="D5E7E1"/>
                </a:solidFill>
                <a:latin typeface="Arial"/>
                <a:ea typeface="Arial"/>
                <a:cs typeface="Arial"/>
              </a:rPr>
              <a:t>Configuration and validation</a:t>
            </a:r>
          </a:p>
          <a:p xmlns:a="http://schemas.openxmlformats.org/drawingml/2006/main">
            <a:pPr>
              <a:defRPr sz="2775" b="0">
                <a:solidFill>
                  <a:srgbClr val="D5E7E1"/>
                </a:solidFill>
                <a:latin typeface="Arial"/>
                <a:ea typeface="Arial"/>
                <a:cs typeface="Arial"/>
              </a:defRPr>
            </a:pPr>
            <a:r>
              <a:rPr sz="2775" b="0">
                <a:solidFill>
                  <a:srgbClr val="D5E7E1"/>
                </a:solidFill>
                <a:latin typeface="Arial"/>
                <a:ea typeface="Arial"/>
                <a:cs typeface="Arial"/>
              </a:rPr>
              <a:t>Actual model response</a:t>
            </a:r>
          </a:p>
          <a:p xmlns:a="http://schemas.openxmlformats.org/drawingml/2006/main">
            <a:pPr>
              <a:defRPr sz="2775" b="0">
                <a:solidFill>
                  <a:srgbClr val="D5E7E1"/>
                </a:solidFill>
                <a:latin typeface="Arial"/>
                <a:ea typeface="Arial"/>
                <a:cs typeface="Arial"/>
              </a:defRPr>
            </a:pPr>
            <a:r>
              <a:rPr sz="2775" b="0">
                <a:solidFill>
                  <a:srgbClr val="D5E7E1"/>
                </a:solidFill>
                <a:latin typeface="Arial"/>
                <a:ea typeface="Arial"/>
                <a:cs typeface="Arial"/>
              </a:rPr>
              <a:t>Metrics and deployment evidence</a:t>
            </a:r>
          </a:p>
          <a:p xmlns:a="http://schemas.openxmlformats.org/drawingml/2006/main">
            <a:pPr>
              <a:defRPr sz="2775" b="0">
                <a:solidFill>
                  <a:srgbClr val="D5E7E1"/>
                </a:solidFill>
                <a:latin typeface="Arial"/>
                <a:ea typeface="Arial"/>
                <a:cs typeface="Arial"/>
              </a:defRPr>
            </a:pPr>
            <a:r>
              <a:rPr sz="2775" b="0">
                <a:solidFill>
                  <a:srgbClr val="D5E7E1"/>
                </a:solidFill>
                <a:latin typeface="Arial"/>
                <a:ea typeface="Arial"/>
                <a:cs typeface="Arial"/>
              </a:rPr>
              <a:t>Policy rejection and remaining work</a:t>
            </a:r>
          </a:p>
        </p:txBody>
      </p:sp>
      <p:sp>
        <p:nvSpPr>
          <p:cNvPr id="4" name="">
            <a:extLst xmlns:a="http://schemas.openxmlformats.org/drawingml/2006/main">
              <a:ext uri="{FF2B5EF4-FFF2-40B4-BE49-F238E27FC236}">
                <a16:creationId xmlns:a16="http://schemas.microsoft.com/office/drawing/2014/main" id="{32BB1ED2-81AC-49A0-95CE-43C36D594F12}"/>
              </a:ext>
            </a:extLst>
          </p:cNvPr>
          <p:cNvSpPr>
            <a:spLocks xmlns:a="http://schemas.openxmlformats.org/drawingml/2006/main" noGrp="1"/>
          </p:cNvSpPr>
          <p:nvPr/>
        </p:nvSpPr>
        <p:spPr>
          <a:xfrm xmlns:a="http://schemas.openxmlformats.org/drawingml/2006/main">
            <a:off x="609600" y="55435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github.com/johncobio/aiplatform</a:t>
            </a:r>
          </a:p>
        </p:txBody>
      </p:sp>
    </p:spTree>
    <p:extLst>
      <p:ext uri="{BB962C8B-B14F-4D97-AF65-F5344CB8AC3E}">
        <p14:creationId xmlns:p14="http://schemas.microsoft.com/office/powerpoint/2010/main" val="1776490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2026-10-15T22:57:38.7400000Z</dcterms:created>
  <dcterms:modified xsi:type="dcterms:W3CDTF">2026-10-15T22:57:38.7400000Z</dcterms:modified>
</coreProperties>
</file>