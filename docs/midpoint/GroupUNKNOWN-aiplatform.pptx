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425e69e5db44072" /><Relationship Type="http://schemas.openxmlformats.org/officeDocument/2006/relationships/extended-properties" Target="/docProps/app.xml" Id="R1bd24070ef9f4f20" /><Relationship Type="http://schemas.openxmlformats.org/officeDocument/2006/relationships/officeDocument" Target="/ppt/presentation.xml" Id="Rcd2ab14c17564291" /></Relationships>
</file>

<file path=ppt/presentation.xml><?xml version="1.0" encoding="utf-8"?>
<p:presentation xmlns:p="http://schemas.openxmlformats.org/presentationml/2006/main">
  <p:sldMasterIdLst>
    <p:sldMasterId xmlns:r="http://schemas.openxmlformats.org/officeDocument/2006/relationships" id="2147483648" r:id="R672948d799754847"/>
  </p:sldMasterIdLst>
  <p:notesMasterIdLst>
    <p:notesMasterId xmlns:r="http://schemas.openxmlformats.org/officeDocument/2006/relationships" r:id="R9c10bd9fd3254e3e"/>
  </p:notesMasterIdLst>
  <p:sldIdLst>
    <p:sldId xmlns:r="http://schemas.openxmlformats.org/officeDocument/2006/relationships" id="256" r:id="R0ee7edc800894c66"/>
    <p:sldId xmlns:r="http://schemas.openxmlformats.org/officeDocument/2006/relationships" id="257" r:id="Rab08567681c3496a"/>
    <p:sldId xmlns:r="http://schemas.openxmlformats.org/officeDocument/2006/relationships" id="258" r:id="R20589325f066444b"/>
    <p:sldId xmlns:r="http://schemas.openxmlformats.org/officeDocument/2006/relationships" id="259" r:id="Re30a718471df4eb4"/>
    <p:sldId xmlns:r="http://schemas.openxmlformats.org/officeDocument/2006/relationships" id="260" r:id="Rcc077c5f1dcd450a"/>
    <p:sldId xmlns:r="http://schemas.openxmlformats.org/officeDocument/2006/relationships" id="261" r:id="R5be17317cc1c4e91"/>
    <p:sldId xmlns:r="http://schemas.openxmlformats.org/officeDocument/2006/relationships" id="262" r:id="R5620fb3a0af04719"/>
    <p:sldId xmlns:r="http://schemas.openxmlformats.org/officeDocument/2006/relationships" id="263" r:id="Redfd05546f1c45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30ca4c120d84b70" /><Relationship Type="http://schemas.openxmlformats.org/officeDocument/2006/relationships/slideMaster" Target="/ppt/slideMasters/slideMaster1.xml" Id="R672948d799754847" /><Relationship Type="http://schemas.openxmlformats.org/officeDocument/2006/relationships/notesMaster" Target="/ppt/notesMasters/notesMaster1.xml" Id="R9c10bd9fd3254e3e" /><Relationship Type="http://schemas.openxmlformats.org/officeDocument/2006/relationships/presProps" Target="/ppt/presProps.xml" Id="Reb929a8e4f084290" /><Relationship Type="http://schemas.openxmlformats.org/officeDocument/2006/relationships/tableStyles" Target="/ppt/tableStyles.xml" Id="Rc85b776e2e5746c1" /><Relationship Type="http://schemas.openxmlformats.org/officeDocument/2006/relationships/slide" Target="/ppt/slides/slide1.xml" Id="R0ee7edc800894c66" /><Relationship Type="http://schemas.openxmlformats.org/officeDocument/2006/relationships/slide" Target="/ppt/slides/slide2.xml" Id="Rab08567681c3496a" /><Relationship Type="http://schemas.openxmlformats.org/officeDocument/2006/relationships/slide" Target="/ppt/slides/slide3.xml" Id="R20589325f066444b" /><Relationship Type="http://schemas.openxmlformats.org/officeDocument/2006/relationships/slide" Target="/ppt/slides/slide4.xml" Id="Re30a718471df4eb4" /><Relationship Type="http://schemas.openxmlformats.org/officeDocument/2006/relationships/slide" Target="/ppt/slides/slide5.xml" Id="Rcc077c5f1dcd450a" /><Relationship Type="http://schemas.openxmlformats.org/officeDocument/2006/relationships/slide" Target="/ppt/slides/slide6.xml" Id="R5be17317cc1c4e91" /><Relationship Type="http://schemas.openxmlformats.org/officeDocument/2006/relationships/slide" Target="/ppt/slides/slide7.xml" Id="R5620fb3a0af04719" /><Relationship Type="http://schemas.openxmlformats.org/officeDocument/2006/relationships/slide" Target="/ppt/slides/slide8.xml" Id="Redfd05546f1c45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a056659c2244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1f9ae25e2d4653" /><Relationship Type="http://schemas.openxmlformats.org/officeDocument/2006/relationships/notesMaster" Target="/ppt/notesMasters/notesMaster1.xml" Id="R9f741edfc51e49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58ee782fb64510" /><Relationship Type="http://schemas.openxmlformats.org/officeDocument/2006/relationships/notesMaster" Target="/ppt/notesMasters/notesMaster1.xml" Id="R2d0dbde2a499468b"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76671011c343af" /><Relationship Type="http://schemas.openxmlformats.org/officeDocument/2006/relationships/notesMaster" Target="/ppt/notesMasters/notesMaster1.xml" Id="R085f4bf4a7114e0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f31c1da9d84e39" /><Relationship Type="http://schemas.openxmlformats.org/officeDocument/2006/relationships/notesMaster" Target="/ppt/notesMasters/notesMaster1.xml" Id="R21a4e583dce744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275a6fb62749f0" /><Relationship Type="http://schemas.openxmlformats.org/officeDocument/2006/relationships/notesMaster" Target="/ppt/notesMasters/notesMaster1.xml" Id="R9badbf1f8d3e45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535c76813b4f19" /><Relationship Type="http://schemas.openxmlformats.org/officeDocument/2006/relationships/notesMaster" Target="/ppt/notesMasters/notesMaster1.xml" Id="R5e5d4f0e2b6e48c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5da80451e8f4bf7" /><Relationship Type="http://schemas.openxmlformats.org/officeDocument/2006/relationships/notesMaster" Target="/ppt/notesMasters/notesMaster1.xml" Id="R38002cde9d0c4867" /></Relationships>
</file>

<file path=ppt/notesSlides/_rels/notesSlide8.xml.rels>&#65279;<?xml version="1.0" encoding="utf-8"?><Relationships xmlns="http://schemas.openxmlformats.org/package/2006/relationships"><Relationship Type="http://schemas.openxmlformats.org/officeDocument/2006/relationships/slide" Target="/ppt/slides/slide8.xml" Id="R3254f0e043e54c35" /><Relationship Type="http://schemas.openxmlformats.org/officeDocument/2006/relationships/notesMaster" Target="/ppt/notesMasters/notesMaster1.xml" Id="R3bcfe44fe85e4e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0:00–0:25 (25 seconds)</a:t>
            </a:r>
          </a:p>
          <a:p xmlns:a="http://schemas.openxmlformats.org/drawingml/2006/main">
            <a:r>
              <a:t/>
            </a:r>
          </a:p>
          <a:p xmlns:a="http://schemas.openxmlformats.org/drawingml/2006/main">
            <a:r>
              <a:t>My project is aiplatform, a self-service infrastructure platform for open-source model workloads. I am John Cobio. The goal is to give a developer a small configuration file and a repeatable path to deployment, health checks, and operational metrics. Today I will show the local prototype, a verified EC2 model-serving demo, evidence from tests and experiments, and remaining work.</a:t>
            </a:r>
          </a:p>
          <a:p xmlns:a="http://schemas.openxmlformats.org/drawingml/2006/main">
            <a:r>
              <a:t/>
            </a:r>
          </a:p>
          <a:p xmlns:a="http://schemas.openxmlformats.org/drawingml/2006/main">
            <a:r>
              <a:t>Sources/evidence:</a:t>
            </a:r>
          </a:p>
          <a:p xmlns:a="http://schemas.openxmlformats.org/drawingml/2006/main">
            <a:r>
              <a:t>README.md; docs/ARCHITECTURE.md. Group number needs confirmation for the filename.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0:25–1:00 (35 seconds)</a:t>
            </a:r>
          </a:p>
          <a:p xmlns:a="http://schemas.openxmlformats.org/drawingml/2006/main">
            <a:r>
              <a:t/>
            </a:r>
          </a:p>
          <a:p xmlns:a="http://schemas.openxmlformats.org/drawingml/2006/main">
            <a:r>
              <a:t>The problem is the repeated infrastructure work around model serving. A model needs enough memory, an inference engine, storage for its weights, and a way to reach it. This YAML names the model, engine and resource budget. The CLI validates those choices and drives the deployment. The product is the deployment workflow and its operating signals. The language model is a workload the platform manages.</a:t>
            </a:r>
          </a:p>
          <a:p xmlns:a="http://schemas.openxmlformats.org/drawingml/2006/main">
            <a:r>
              <a:t/>
            </a:r>
          </a:p>
          <a:p xmlns:a="http://schemas.openxmlformats.org/drawingml/2006/main">
            <a:r>
              <a:t>Sources/evidence:</a:t>
            </a:r>
          </a:p>
          <a:p xmlns:a="http://schemas.openxmlformats.org/drawingml/2006/main">
            <a:r>
              <a:t>services/qwen-server/aiplatform.yaml; cli/src/aiplatform/config/schema.py; cli/src/aiplatform/targets/kind.py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1:00–1:50 (50 seconds)</a:t>
            </a:r>
          </a:p>
          <a:p xmlns:a="http://schemas.openxmlformats.org/drawingml/2006/main">
            <a:r>
              <a:t/>
            </a:r>
          </a:p>
          <a:p xmlns:a="http://schemas.openxmlformats.org/drawingml/2006/main">
            <a:r>
              <a:t>This is the local prototype architecture. GitHub Actions runs validation and publishes images to GHCR. The CLI can deploy directly with Helm or commit desired state for Argo CD to reconcile. Ingress routes requests to an inference pod and a persistent volume caches model weights. Prometheus and Grafana expose performance and resource use. The built-in service exports OpenTelemetry traces to Jaeger. These components have run locally. The current live midpoint demo uses the smaller EC2 footprint on the next slide, so the laptop does not need to run the whole cluster during recording.</a:t>
            </a:r>
          </a:p>
          <a:p xmlns:a="http://schemas.openxmlformats.org/drawingml/2006/main">
            <a:r>
              <a:t/>
            </a:r>
          </a:p>
          <a:p xmlns:a="http://schemas.openxmlformats.org/drawingml/2006/main">
            <a:r>
              <a:t>Sources/evidence:</a:t>
            </a:r>
          </a:p>
          <a:p xmlns:a="http://schemas.openxmlformats.org/drawingml/2006/main">
            <a:r>
              <a:t>docs/ARCHITECTURE.md; .github/workflows/ci.yml; .github/workflows/build-image.yml; deploy/helm/llm-workload/; prototype runtime evidence in docs/benchmarks/2026-09-16-v4-observability-baseline.md.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1:50–2:35 (45 seconds)</a:t>
            </a:r>
          </a:p>
          <a:p xmlns:a="http://schemas.openxmlformats.org/drawingml/2006/main">
            <a:r>
              <a:t/>
            </a:r>
          </a:p>
          <a:p xmlns:a="http://schemas.openxmlformats.org/drawingml/2006/main">
            <a:r>
              <a:t>The cloud milestone now runs a real Qwen model on one EC2 instance. Terraform applied a reviewed plan with four creates and no changes to existing lab resources. It reuses the lab network and restricts port 8000 to my IP. The instance has encrypted gp2 storage, standard CPU credits, no SSH and no IAM role. It pulls a digest-pinned public image and verifies the model checksum. One real request returned HTTP 200 with 34 output tokens in 2.304 seconds of client time. That is a smoke test, not a P95 benchmark. The host schedules termination after two hours, and Terraform destroy removes the remaining security group.</a:t>
            </a:r>
          </a:p>
          <a:p xmlns:a="http://schemas.openxmlformats.org/drawingml/2006/main">
            <a:r>
              <a:t/>
            </a:r>
          </a:p>
          <a:p xmlns:a="http://schemas.openxmlformats.org/drawingml/2006/main">
            <a:r>
              <a:t>Sources/evidence:</a:t>
            </a:r>
          </a:p>
          <a:p xmlns:a="http://schemas.openxmlformats.org/drawingml/2006/main">
            <a:r>
              <a:t>docs/benchmarks/2026-10-15-academy-smoke.md: verified 2026-10-16 01:15:18 UTC (October 15 locally). infra/terraform/environments/academy; ADR 0012. No EKS/ECR/GPU deployment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2:35–3:20 (45 seconds)</a:t>
            </a:r>
          </a:p>
          <a:p xmlns:a="http://schemas.openxmlformats.org/drawingml/2006/main">
            <a:r>
              <a:t/>
            </a:r>
          </a:p>
          <a:p xmlns:a="http://schemas.openxmlformats.org/drawingml/2006/main">
            <a:r>
              <a:t>The fresh audit passed 112 CLI and 14 service tests. Seven Terraform roots and modules validate. Three mocked Terraform plans test the Academy constraints, and four OPA unit tests check its narrow instance-type exception. Chart checks and both policy suites passed. Checkov passed 102 checks with one documented exception for the intentionally role-free host. All seven CI jobs passed on ed73116. Earlier in the audit, a real scanner failure led to an explicit availability-zone filter rather than a global suppression. Validation, a cloud apply, and model readiness are separate checks.</a:t>
            </a:r>
          </a:p>
          <a:p xmlns:a="http://schemas.openxmlformats.org/drawingml/2006/main">
            <a:r>
              <a:t/>
            </a:r>
          </a:p>
          <a:p xmlns:a="http://schemas.openxmlformats.org/drawingml/2006/main">
            <a:r>
              <a:t>Sources/evidence:</a:t>
            </a:r>
          </a:p>
          <a:p xmlns:a="http://schemas.openxmlformats.org/drawingml/2006/main">
            <a:r>
              <a:t>make check: 112 CLI + 14 service tests, seven Terraform validations, three mocked plans, four OPA unit tests, 364 Terraform and 80 Kubernetes policy assertions. Checkov: 102 passed, 0 failed, 1 scoped skip. CI https://github.com/johncobio/aiplatform/actions/runs/38822074273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3:20–4:00 (40 seconds)</a:t>
            </a:r>
          </a:p>
          <a:p xmlns:a="http://schemas.openxmlformats.org/drawingml/2006/main">
            <a:r>
              <a:t/>
            </a:r>
          </a:p>
          <a:p xmlns:a="http://schemas.openxmlformats.org/drawingml/2006/main">
            <a:r>
              <a:t>These are recorded local experiments from September 16. With the Qwen 0.5B model, two CPU threads and one virtual user, the upstream llama.cpp server produced 47.6 completion tokens per second and a P95 response latency of 0.80 seconds. The built-in service recorded 16.4 tokens per second. The engine builds and serving setup differ, so this is an observed comparison, not proof that one specific optimisation caused the gap. A separate pod-deletion experiment measured endpoint recovery at 12.5 seconds.</a:t>
            </a:r>
          </a:p>
          <a:p xmlns:a="http://schemas.openxmlformats.org/drawingml/2006/main">
            <a:r>
              <a:t/>
            </a:r>
          </a:p>
          <a:p xmlns:a="http://schemas.openxmlformats.org/drawingml/2006/main">
            <a:r>
              <a:t>Sources/evidence:</a:t>
            </a:r>
          </a:p>
          <a:p xmlns:a="http://schemas.openxmlformats.org/drawingml/2006/main">
            <a:r>
              <a:t>docs/benchmarks/2026-09-16-v6-engines.md; docs/benchmarks/2026-09-16-v8-reliability.md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4:00–4:35 (35 seconds)</a:t>
            </a:r>
          </a:p>
          <a:p xmlns:a="http://schemas.openxmlformats.org/drawingml/2006/main">
            <a:r>
              <a:t/>
            </a:r>
          </a:p>
          <a:p xmlns:a="http://schemas.openxmlformats.org/drawingml/2006/main">
            <a:r>
              <a:t>The main challenge has been resource pressure on an eight-gigabyte laptop, which led to using one local workload and pausing unused add-ons. The live recording can now use EC2 instead. Academy permissions shaped that smaller cloud footprint. The reliability work found an ingress blind spot that needs an external probe. EKS, GPU inference, and the live proposal provider remain unverified. After feedback I will extend cloud automation and repeat load and recovery measurements. The current EC2 demo is temporary and must be destroyed after recording. The final deadline still needs confirmation.</a:t>
            </a:r>
          </a:p>
          <a:p xmlns:a="http://schemas.openxmlformats.org/drawingml/2006/main">
            <a:r>
              <a:t/>
            </a:r>
          </a:p>
          <a:p xmlns:a="http://schemas.openxmlformats.org/drawingml/2006/main">
            <a:r>
              <a:t>Sources/evidence:</a:t>
            </a:r>
          </a:p>
          <a:p xmlns:a="http://schemas.openxmlformats.org/drawingml/2006/main">
            <a:r>
              <a:t>PROJECT_STATUS.md; docs/RELIABILITY.md; docs/benchmarks/2026-09-16-v8-reliability.md; Academy Sandbox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4:35–5:00 (25 seconds)</a:t>
            </a:r>
          </a:p>
          <a:p xmlns:a="http://schemas.openxmlformats.org/drawingml/2006/main">
            <a:r>
              <a:t/>
            </a:r>
          </a:p>
          <a:p xmlns:a="http://schemas.openxmlformats.org/drawingml/2006/main">
            <a:r>
              <a:t>The accompanying demo shows the configuration, validation, an actual model response, and operational evidence. It also shows a rejected policy proposal using the file provider, so the approval guardrails are visible without claiming that a live AI call generated the proposal. The repository is public for review. I would especially welcome feedback on which final milestone matters most: EKS deployment, cloud automation, or deeper reliability measurements.</a:t>
            </a:r>
          </a:p>
          <a:p xmlns:a="http://schemas.openxmlformats.org/drawingml/2006/main">
            <a:r>
              <a:t/>
            </a:r>
          </a:p>
          <a:p xmlns:a="http://schemas.openxmlformats.org/drawingml/2006/main">
            <a:r>
              <a:t>Sources/evidence:</a:t>
            </a:r>
          </a:p>
          <a:p xmlns:a="http://schemas.openxmlformats.org/drawingml/2006/main">
            <a:r>
              <a:t>docs/midpoint/DEMO_WALKTHROUGH.md; examples/proposals/rejected-nat-gateway.json.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59dd64ee574cc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25042546cee43b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46f01ef31f4df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385ab75e3f5405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3a0556d58e04b0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1458316c5914b5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82C53E-C37A-424E-9077-743F6035091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30A27ED-109F-4544-93B7-FD91189B247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2B3600D-65A9-4D9F-B00A-F543BEB0D1D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8973C6-B870-494E-BBBF-C029249847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013135D-4437-44AF-9E50-57D18041EE8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36F5C5E-8983-4AE2-B8B2-6B1C401143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686AA22-3253-4039-B967-7604B24FE0D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6CE059-2EC2-4F9D-8E4C-C3734C0AFD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E31E77-5CCC-4842-ABC8-13FF18C5BD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5F1701-14CC-4E32-A775-2371A2970A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377c02e304426e" /><Relationship Type="http://schemas.openxmlformats.org/officeDocument/2006/relationships/slideLayout" Target="/ppt/slideLayouts/slideLayout1.xml" Id="R648bda15d59d4d14" /><Relationship Type="http://schemas.openxmlformats.org/officeDocument/2006/relationships/slideLayout" Target="/ppt/slideLayouts/slideLayout2.xml" Id="R4360778eb0db4d82" /><Relationship Type="http://schemas.openxmlformats.org/officeDocument/2006/relationships/slideLayout" Target="/ppt/slideLayouts/slideLayout3.xml" Id="Racdfd7537c6e4d20" /><Relationship Type="http://schemas.openxmlformats.org/officeDocument/2006/relationships/slideLayout" Target="/ppt/slideLayouts/slideLayout4.xml" Id="R18a51139afdf4a63" /><Relationship Type="http://schemas.openxmlformats.org/officeDocument/2006/relationships/slideLayout" Target="/ppt/slideLayouts/slideLayout5.xml" Id="R4ad5735692bf4d4f" /><Relationship Type="http://schemas.openxmlformats.org/officeDocument/2006/relationships/slideLayout" Target="/ppt/slideLayouts/slideLayout6.xml" Id="R357d19844cc4477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8bda15d59d4d14"/>
    <p:sldLayoutId xmlns:r="http://schemas.openxmlformats.org/officeDocument/2006/relationships" id="2147483650" r:id="R4360778eb0db4d82"/>
    <p:sldLayoutId xmlns:r="http://schemas.openxmlformats.org/officeDocument/2006/relationships" id="2147483651" r:id="Racdfd7537c6e4d20"/>
    <p:sldLayoutId xmlns:r="http://schemas.openxmlformats.org/officeDocument/2006/relationships" id="2147483652" r:id="R18a51139afdf4a63"/>
    <p:sldLayoutId xmlns:r="http://schemas.openxmlformats.org/officeDocument/2006/relationships" id="2147483653" r:id="R4ad5735692bf4d4f"/>
    <p:sldLayoutId xmlns:r="http://schemas.openxmlformats.org/officeDocument/2006/relationships" id="2147483654" r:id="R357d19844cc4477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22ca734c3fd4cd5" /><Relationship Type="http://schemas.openxmlformats.org/officeDocument/2006/relationships/notesSlide" Target="/ppt/notesSlides/notesSlide1.xml" Id="Re5bddaedf40e4f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85b52528af4319" /><Relationship Type="http://schemas.openxmlformats.org/officeDocument/2006/relationships/notesSlide" Target="/ppt/notesSlides/notesSlide2.xml" Id="R7ebd995762614a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71cb74611df465d" /><Relationship Type="http://schemas.openxmlformats.org/officeDocument/2006/relationships/notesSlide" Target="/ppt/notesSlides/notesSlide3.xml" Id="R26b6816e22144c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adafe27910344ea" /><Relationship Type="http://schemas.openxmlformats.org/officeDocument/2006/relationships/notesSlide" Target="/ppt/notesSlides/notesSlide4.xml" Id="R975cc095cdb84e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8e11e4f015f47da" /><Relationship Type="http://schemas.openxmlformats.org/officeDocument/2006/relationships/notesSlide" Target="/ppt/notesSlides/notesSlide5.xml" Id="R2ed91b21128a4b0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48992eaf82b4016" /><Relationship Type="http://schemas.openxmlformats.org/officeDocument/2006/relationships/chart" Target="/ppt/slides/charts/chart1.xml" Id="Re679224fc01847e6" /><Relationship Type="http://schemas.openxmlformats.org/officeDocument/2006/relationships/notesSlide" Target="/ppt/notesSlides/notesSlide6.xml" Id="Rebb829b2b38742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f8af477e2ed4202" /><Relationship Type="http://schemas.openxmlformats.org/officeDocument/2006/relationships/notesSlide" Target="/ppt/notesSlides/notesSlide7.xml" Id="R9154dc18977e46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aca66a60a64c1c" /><Relationship Type="http://schemas.openxmlformats.org/officeDocument/2006/relationships/notesSlide" Target="/ppt/notesSlides/notesSlide8.xml" Id="Rd720437c27fd422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Completion tokens/s</c:v>
          </c:tx>
          <c:spPr>
            <a:solidFill xmlns:a="http://schemas.openxmlformats.org/drawingml/2006/main">
              <a:srgbClr val="087E70"/>
            </a:solidFill>
          </c:spPr>
          <c:invertIfNegative val="0"/>
          <c:cat>
            <c:strRef>
              <c:f>'Chart Data'!$A$2:$A$3</c:f>
              <c:strCache>
                <c:ptCount val="2"/>
                <c:pt idx="0">
                  <c:v>Built-in service</c:v>
                </c:pt>
                <c:pt idx="1">
                  <c:v>Upstream llama.cpp</c:v>
                </c:pt>
              </c:strCache>
            </c:strRef>
          </c:cat>
          <c:val>
            <c:numRef>
              <c:f>'Chart Data'!$B$2:$B$3</c:f>
              <c:numCache>
                <c:formatCode>General</c:formatCode>
                <c:ptCount val="2"/>
                <c:pt idx="0">
                  <c:v>16.4</c:v>
                </c:pt>
                <c:pt idx="1">
                  <c:v>47.6</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2A3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B413649-C43D-46ED-864E-FD9EAE6D4C3E}"/>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aiplatform</a:t>
            </a:r>
          </a:p>
        </p:txBody>
      </p:sp>
      <p:sp>
        <p:nvSpPr>
          <p:cNvPr id="2" name="">
            <a:extLst xmlns:a="http://schemas.openxmlformats.org/drawingml/2006/main">
              <a:ext uri="{FF2B5EF4-FFF2-40B4-BE49-F238E27FC236}">
                <a16:creationId xmlns:a16="http://schemas.microsoft.com/office/drawing/2014/main" id="{66DDC285-2F89-4C98-984F-AFAC22AFC2CD}"/>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B7CDC9"/>
                </a:solidFill>
                <a:latin typeface="Arial"/>
                <a:ea typeface="Arial"/>
                <a:cs typeface="Arial"/>
              </a:defRPr>
            </a:defPPr>
          </a:lstStyle>
          <a:p xmlns:a="http://schemas.openxmlformats.org/drawingml/2006/main">
            <a:pPr>
              <a:defRPr sz="1200" b="0">
                <a:solidFill>
                  <a:srgbClr val="B7CDC9"/>
                </a:solidFill>
                <a:latin typeface="Arial"/>
                <a:ea typeface="Arial"/>
                <a:cs typeface="Arial"/>
              </a:defRPr>
            </a:pPr>
            <a:r>
              <a:rPr sz="1200" b="0">
                <a:solidFill>
                  <a:srgbClr val="B7CDC9"/>
                </a:solidFill>
                <a:latin typeface="Arial"/>
                <a:ea typeface="Arial"/>
                <a:cs typeface="Arial"/>
              </a:rPr>
              <a:t>1 / 8</a:t>
            </a:r>
          </a:p>
        </p:txBody>
      </p:sp>
      <p:sp>
        <p:nvSpPr>
          <p:cNvPr id="3" name="">
            <a:extLst xmlns:a="http://schemas.openxmlformats.org/drawingml/2006/main">
              <a:ext uri="{FF2B5EF4-FFF2-40B4-BE49-F238E27FC236}">
                <a16:creationId xmlns:a16="http://schemas.microsoft.com/office/drawing/2014/main" id="{CCE3007D-D00D-402F-A70E-38DFDD3FCDDE}"/>
              </a:ext>
            </a:extLst>
          </p:cNvPr>
          <p:cNvSpPr>
            <a:spLocks xmlns:a="http://schemas.openxmlformats.org/drawingml/2006/main" noGrp="1"/>
          </p:cNvSpPr>
          <p:nvPr/>
        </p:nvSpPr>
        <p:spPr>
          <a:xfrm xmlns:a="http://schemas.openxmlformats.org/drawingml/2006/main">
            <a:off x="609600" y="1905000"/>
            <a:ext cx="1019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050" b="1">
                <a:solidFill>
                  <a:srgbClr val="FFFFFF"/>
                </a:solidFill>
                <a:latin typeface="Arial"/>
                <a:ea typeface="Arial"/>
                <a:cs typeface="Arial"/>
              </a:defRPr>
            </a:def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Self-service AI infrastructure</a:t>
            </a:r>
          </a:p>
        </p:txBody>
      </p:sp>
      <p:sp>
        <p:nvSpPr>
          <p:cNvPr id="4" name="">
            <a:extLst xmlns:a="http://schemas.openxmlformats.org/drawingml/2006/main">
              <a:ext uri="{FF2B5EF4-FFF2-40B4-BE49-F238E27FC236}">
                <a16:creationId xmlns:a16="http://schemas.microsoft.com/office/drawing/2014/main" id="{6829A211-3AD9-47D0-819E-F425BF4CD58A}"/>
              </a:ext>
            </a:extLst>
          </p:cNvPr>
          <p:cNvSpPr>
            <a:spLocks xmlns:a="http://schemas.openxmlformats.org/drawingml/2006/main" noGrp="1"/>
          </p:cNvSpPr>
          <p:nvPr/>
        </p:nvSpPr>
        <p:spPr>
          <a:xfrm xmlns:a="http://schemas.openxmlformats.org/drawingml/2006/main">
            <a:off x="647700" y="3286125"/>
            <a:ext cx="685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D5E7E1"/>
                </a:solidFill>
                <a:latin typeface="Arial"/>
                <a:ea typeface="Arial"/>
                <a:cs typeface="Arial"/>
              </a:defRPr>
            </a:defPPr>
          </a:lstStyle>
          <a:p xmlns:a="http://schemas.openxmlformats.org/drawingml/2006/main">
            <a:pPr>
              <a:defRPr sz="2175" b="0">
                <a:solidFill>
                  <a:srgbClr val="D5E7E1"/>
                </a:solidFill>
                <a:latin typeface="Arial"/>
                <a:ea typeface="Arial"/>
                <a:cs typeface="Arial"/>
              </a:defRPr>
            </a:pPr>
            <a:r>
              <a:rPr sz="2175" b="0">
                <a:solidFill>
                  <a:srgbClr val="D5E7E1"/>
                </a:solidFill>
                <a:latin typeface="Arial"/>
                <a:ea typeface="Arial"/>
                <a:cs typeface="Arial"/>
              </a:rPr>
              <a:t>Midpoint evaluation</a:t>
            </a:r>
          </a:p>
          <a:p xmlns:a="http://schemas.openxmlformats.org/drawingml/2006/main">
            <a:pPr>
              <a:defRPr sz="2175" b="0">
                <a:solidFill>
                  <a:srgbClr val="D5E7E1"/>
                </a:solidFill>
                <a:latin typeface="Arial"/>
                <a:ea typeface="Arial"/>
                <a:cs typeface="Arial"/>
              </a:defRPr>
            </a:pPr>
            <a:r>
              <a:rPr sz="2175" b="0">
                <a:solidFill>
                  <a:srgbClr val="D5E7E1"/>
                </a:solidFill>
                <a:latin typeface="Arial"/>
                <a:ea typeface="Arial"/>
                <a:cs typeface="Arial"/>
              </a:rPr>
              <a:t>John Cobio</a:t>
            </a:r>
          </a:p>
        </p:txBody>
      </p:sp>
      <p:sp>
        <p:nvSpPr>
          <p:cNvPr id="5" name="">
            <a:extLst xmlns:a="http://schemas.openxmlformats.org/drawingml/2006/main">
              <a:ext uri="{FF2B5EF4-FFF2-40B4-BE49-F238E27FC236}">
                <a16:creationId xmlns:a16="http://schemas.microsoft.com/office/drawing/2014/main" id="{8ABEDECA-90F1-458A-A1AA-FC8B85BEE7A8}"/>
              </a:ext>
            </a:extLst>
          </p:cNvPr>
          <p:cNvSpPr>
            <a:spLocks xmlns:a="http://schemas.openxmlformats.org/drawingml/2006/main" noGrp="1"/>
          </p:cNvSpPr>
          <p:nvPr/>
        </p:nvSpPr>
        <p:spPr>
          <a:xfrm xmlns:a="http://schemas.openxmlformats.org/drawingml/2006/main">
            <a:off x="647700" y="4810125"/>
            <a:ext cx="990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D5E7E1"/>
                </a:solidFill>
                <a:latin typeface="Arial"/>
                <a:ea typeface="Arial"/>
                <a:cs typeface="Arial"/>
              </a:defRPr>
            </a:defPPr>
          </a:lstStyle>
          <a:p xmlns:a="http://schemas.openxmlformats.org/drawingml/2006/main">
            <a:pPr>
              <a:defRPr sz="2250" b="0">
                <a:solidFill>
                  <a:srgbClr val="D5E7E1"/>
                </a:solidFill>
                <a:latin typeface="Arial"/>
                <a:ea typeface="Arial"/>
                <a:cs typeface="Arial"/>
              </a:defRPr>
            </a:pPr>
            <a:r>
              <a:rPr sz="2250" b="0">
                <a:solidFill>
                  <a:srgbClr val="D5E7E1"/>
                </a:solidFill>
                <a:latin typeface="Arial"/>
                <a:ea typeface="Arial"/>
                <a:cs typeface="Arial"/>
              </a:rPr>
              <a:t>A workload configuration becomes a running</a:t>
            </a:r>
          </a:p>
          <a:p xmlns:a="http://schemas.openxmlformats.org/drawingml/2006/main">
            <a:pPr>
              <a:defRPr sz="2250" b="0">
                <a:solidFill>
                  <a:srgbClr val="D5E7E1"/>
                </a:solidFill>
                <a:latin typeface="Arial"/>
                <a:ea typeface="Arial"/>
                <a:cs typeface="Arial"/>
              </a:defRPr>
            </a:pPr>
            <a:r>
              <a:rPr sz="2250" b="0">
                <a:solidFill>
                  <a:srgbClr val="D5E7E1"/>
                </a:solidFill>
                <a:latin typeface="Arial"/>
                <a:ea typeface="Arial"/>
                <a:cs typeface="Arial"/>
              </a:rPr>
              <a:t>open-source model with operational visibility.</a:t>
            </a:r>
          </a:p>
        </p:txBody>
      </p:sp>
    </p:spTree>
    <p:extLst>
      <p:ext uri="{BB962C8B-B14F-4D97-AF65-F5344CB8AC3E}">
        <p14:creationId xmlns:p14="http://schemas.microsoft.com/office/powerpoint/2010/main" val="13411621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3A14FD-636A-47C3-87B0-C2D19FC33C40}"/>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Problem and developer experience</a:t>
            </a:r>
          </a:p>
        </p:txBody>
      </p:sp>
      <p:sp>
        <p:nvSpPr>
          <p:cNvPr id="2" name="">
            <a:extLst xmlns:a="http://schemas.openxmlformats.org/drawingml/2006/main">
              <a:ext uri="{FF2B5EF4-FFF2-40B4-BE49-F238E27FC236}">
                <a16:creationId xmlns:a16="http://schemas.microsoft.com/office/drawing/2014/main" id="{A242CB78-0A48-4467-8306-389FE8BC2012}"/>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2 / 8</a:t>
            </a:r>
          </a:p>
        </p:txBody>
      </p:sp>
      <p:sp>
        <p:nvSpPr>
          <p:cNvPr id="3" name="">
            <a:extLst xmlns:a="http://schemas.openxmlformats.org/drawingml/2006/main">
              <a:ext uri="{FF2B5EF4-FFF2-40B4-BE49-F238E27FC236}">
                <a16:creationId xmlns:a16="http://schemas.microsoft.com/office/drawing/2014/main" id="{30077F3F-4A9A-4EEE-A74F-4E2505E310CB}"/>
              </a:ext>
            </a:extLst>
          </p:cNvPr>
          <p:cNvSpPr>
            <a:spLocks xmlns:a="http://schemas.openxmlformats.org/drawingml/2006/main" noGrp="1"/>
          </p:cNvSpPr>
          <p:nvPr/>
        </p:nvSpPr>
        <p:spPr>
          <a:xfrm xmlns:a="http://schemas.openxmlformats.org/drawingml/2006/main">
            <a:off x="609600" y="1790700"/>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Repeated infrastructure setup</a:t>
            </a:r>
          </a:p>
        </p:txBody>
      </p:sp>
      <p:sp>
        <p:nvSpPr>
          <p:cNvPr id="4" name="">
            <a:extLst xmlns:a="http://schemas.openxmlformats.org/drawingml/2006/main">
              <a:ext uri="{FF2B5EF4-FFF2-40B4-BE49-F238E27FC236}">
                <a16:creationId xmlns:a16="http://schemas.microsoft.com/office/drawing/2014/main" id="{D25D4D5C-ED40-438B-A22D-6F77C36ED268}"/>
              </a:ext>
            </a:extLst>
          </p:cNvPr>
          <p:cNvSpPr>
            <a:spLocks xmlns:a="http://schemas.openxmlformats.org/drawingml/2006/main" noGrp="1"/>
          </p:cNvSpPr>
          <p:nvPr/>
        </p:nvSpPr>
        <p:spPr>
          <a:xfrm xmlns:a="http://schemas.openxmlformats.org/drawingml/2006/main">
            <a:off x="609600" y="2143125"/>
            <a:ext cx="5410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Model storage, resources and networking differ across deployments.</a:t>
            </a:r>
          </a:p>
        </p:txBody>
      </p:sp>
      <p:sp>
        <p:nvSpPr>
          <p:cNvPr id="5" name="">
            <a:extLst xmlns:a="http://schemas.openxmlformats.org/drawingml/2006/main">
              <a:ext uri="{FF2B5EF4-FFF2-40B4-BE49-F238E27FC236}">
                <a16:creationId xmlns:a16="http://schemas.microsoft.com/office/drawing/2014/main" id="{AE5F15E4-4F89-4818-A6E1-2326570BEF98}"/>
              </a:ext>
            </a:extLst>
          </p:cNvPr>
          <p:cNvSpPr>
            <a:spLocks xmlns:a="http://schemas.openxmlformats.org/drawingml/2006/main" noGrp="1"/>
          </p:cNvSpPr>
          <p:nvPr/>
        </p:nvSpPr>
        <p:spPr>
          <a:xfrm xmlns:a="http://schemas.openxmlformats.org/drawingml/2006/main">
            <a:off x="609600" y="3009900"/>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One workload definition</a:t>
            </a:r>
          </a:p>
        </p:txBody>
      </p:sp>
      <p:sp>
        <p:nvSpPr>
          <p:cNvPr id="6" name="">
            <a:extLst xmlns:a="http://schemas.openxmlformats.org/drawingml/2006/main">
              <a:ext uri="{FF2B5EF4-FFF2-40B4-BE49-F238E27FC236}">
                <a16:creationId xmlns:a16="http://schemas.microsoft.com/office/drawing/2014/main" id="{546013EB-0300-4B2A-B499-56902F951A8B}"/>
              </a:ext>
            </a:extLst>
          </p:cNvPr>
          <p:cNvSpPr>
            <a:spLocks xmlns:a="http://schemas.openxmlformats.org/drawingml/2006/main" noGrp="1"/>
          </p:cNvSpPr>
          <p:nvPr/>
        </p:nvSpPr>
        <p:spPr>
          <a:xfrm xmlns:a="http://schemas.openxmlformats.org/drawingml/2006/main">
            <a:off x="609600" y="3362325"/>
            <a:ext cx="5410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The platform validates the model and its resource requirements.</a:t>
            </a:r>
          </a:p>
        </p:txBody>
      </p:sp>
      <p:sp>
        <p:nvSpPr>
          <p:cNvPr id="7" name="">
            <a:extLst xmlns:a="http://schemas.openxmlformats.org/drawingml/2006/main">
              <a:ext uri="{FF2B5EF4-FFF2-40B4-BE49-F238E27FC236}">
                <a16:creationId xmlns:a16="http://schemas.microsoft.com/office/drawing/2014/main" id="{95C4ADD1-780A-4E23-8335-25A8BA04DCC5}"/>
              </a:ext>
            </a:extLst>
          </p:cNvPr>
          <p:cNvSpPr>
            <a:spLocks xmlns:a="http://schemas.openxmlformats.org/drawingml/2006/main" noGrp="1"/>
          </p:cNvSpPr>
          <p:nvPr/>
        </p:nvSpPr>
        <p:spPr>
          <a:xfrm xmlns:a="http://schemas.openxmlformats.org/drawingml/2006/main">
            <a:off x="609600" y="4229100"/>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Repeatable operations</a:t>
            </a:r>
          </a:p>
        </p:txBody>
      </p:sp>
      <p:sp>
        <p:nvSpPr>
          <p:cNvPr id="8" name="">
            <a:extLst xmlns:a="http://schemas.openxmlformats.org/drawingml/2006/main">
              <a:ext uri="{FF2B5EF4-FFF2-40B4-BE49-F238E27FC236}">
                <a16:creationId xmlns:a16="http://schemas.microsoft.com/office/drawing/2014/main" id="{F0D2467C-D950-4DB3-825D-26F61AB04C8C}"/>
              </a:ext>
            </a:extLst>
          </p:cNvPr>
          <p:cNvSpPr>
            <a:spLocks xmlns:a="http://schemas.openxmlformats.org/drawingml/2006/main" noGrp="1"/>
          </p:cNvSpPr>
          <p:nvPr/>
        </p:nvSpPr>
        <p:spPr>
          <a:xfrm xmlns:a="http://schemas.openxmlformats.org/drawingml/2006/main">
            <a:off x="609600" y="4581525"/>
            <a:ext cx="5410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Deploy, inspect health, read logs and roll back through a CLI.</a:t>
            </a:r>
          </a:p>
        </p:txBody>
      </p:sp>
      <p:sp>
        <p:nvSpPr>
          <p:cNvPr id="9" name="">
            <a:extLst xmlns:a="http://schemas.openxmlformats.org/drawingml/2006/main">
              <a:ext uri="{FF2B5EF4-FFF2-40B4-BE49-F238E27FC236}">
                <a16:creationId xmlns:a16="http://schemas.microsoft.com/office/drawing/2014/main" id="{0C93E662-CDE1-4FFB-89E8-25EFE5429305}"/>
              </a:ext>
            </a:extLst>
          </p:cNvPr>
          <p:cNvSpPr>
            <a:spLocks xmlns:a="http://schemas.openxmlformats.org/drawingml/2006/main" noGrp="1"/>
          </p:cNvSpPr>
          <p:nvPr/>
        </p:nvSpPr>
        <p:spPr>
          <a:xfrm xmlns:a="http://schemas.openxmlformats.org/drawingml/2006/main">
            <a:off x="6667500" y="1762125"/>
            <a:ext cx="4895850" cy="3476625"/>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0" name="">
            <a:extLst xmlns:a="http://schemas.openxmlformats.org/drawingml/2006/main">
              <a:ext uri="{FF2B5EF4-FFF2-40B4-BE49-F238E27FC236}">
                <a16:creationId xmlns:a16="http://schemas.microsoft.com/office/drawing/2014/main" id="{0AEB0FC5-FB24-4D01-B3C9-E7EC3EADD0A3}"/>
              </a:ext>
            </a:extLst>
          </p:cNvPr>
          <p:cNvSpPr>
            <a:spLocks xmlns:a="http://schemas.openxmlformats.org/drawingml/2006/main" noGrp="1"/>
          </p:cNvSpPr>
          <p:nvPr/>
        </p:nvSpPr>
        <p:spPr>
          <a:xfrm xmlns:a="http://schemas.openxmlformats.org/drawingml/2006/main">
            <a:off x="6838950" y="1876425"/>
            <a:ext cx="4552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aiplatform.yaml</a:t>
            </a:r>
          </a:p>
        </p:txBody>
      </p:sp>
      <p:sp>
        <p:nvSpPr>
          <p:cNvPr id="11" name="">
            <a:extLst xmlns:a="http://schemas.openxmlformats.org/drawingml/2006/main">
              <a:ext uri="{FF2B5EF4-FFF2-40B4-BE49-F238E27FC236}">
                <a16:creationId xmlns:a16="http://schemas.microsoft.com/office/drawing/2014/main" id="{507C8C24-1542-468A-A3D4-018B5D83A0F9}"/>
              </a:ext>
            </a:extLst>
          </p:cNvPr>
          <p:cNvSpPr>
            <a:spLocks xmlns:a="http://schemas.openxmlformats.org/drawingml/2006/main" noGrp="1"/>
          </p:cNvSpPr>
          <p:nvPr/>
        </p:nvSpPr>
        <p:spPr>
          <a:xfrm xmlns:a="http://schemas.openxmlformats.org/drawingml/2006/main">
            <a:off x="6896100" y="2381250"/>
            <a:ext cx="44291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name: document-agent</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model: qwen2.5-0.5b-instruct</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engine: llamacpp-server</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cpu: 2</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memory: 1Gi</a:t>
            </a:r>
          </a:p>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environment: dev</a:t>
            </a:r>
          </a:p>
        </p:txBody>
      </p:sp>
      <p:sp>
        <p:nvSpPr>
          <p:cNvPr id="12" name="">
            <a:extLst xmlns:a="http://schemas.openxmlformats.org/drawingml/2006/main">
              <a:ext uri="{FF2B5EF4-FFF2-40B4-BE49-F238E27FC236}">
                <a16:creationId xmlns:a16="http://schemas.microsoft.com/office/drawing/2014/main" id="{7B0C7D82-8091-4867-9207-C6E38AF0FFEC}"/>
              </a:ext>
            </a:extLst>
          </p:cNvPr>
          <p:cNvSpPr>
            <a:spLocks xmlns:a="http://schemas.openxmlformats.org/drawingml/2006/main" noGrp="1"/>
          </p:cNvSpPr>
          <p:nvPr/>
        </p:nvSpPr>
        <p:spPr>
          <a:xfrm xmlns:a="http://schemas.openxmlformats.org/drawingml/2006/main">
            <a:off x="6667500" y="55245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87E70"/>
                </a:solidFill>
                <a:latin typeface="Arial"/>
                <a:ea typeface="Arial"/>
                <a:cs typeface="Arial"/>
              </a:defRPr>
            </a:defPPr>
          </a:lstStyle>
          <a:p xmlns:a="http://schemas.openxmlformats.org/drawingml/2006/main">
            <a:pPr>
              <a:defRPr sz="1875" b="1">
                <a:solidFill>
                  <a:srgbClr val="087E70"/>
                </a:solidFill>
                <a:latin typeface="Arial"/>
                <a:ea typeface="Arial"/>
                <a:cs typeface="Arial"/>
              </a:defRPr>
            </a:pPr>
            <a:r>
              <a:rPr sz="1875" b="1">
                <a:solidFill>
                  <a:srgbClr val="087E70"/>
                </a:solidFill>
                <a:latin typeface="Arial"/>
                <a:ea typeface="Arial"/>
                <a:cs typeface="Arial"/>
              </a:rPr>
              <a:t>aiplatform deploy --target kind</a:t>
            </a:r>
          </a:p>
        </p:txBody>
      </p:sp>
    </p:spTree>
    <p:extLst>
      <p:ext uri="{BB962C8B-B14F-4D97-AF65-F5344CB8AC3E}">
        <p14:creationId xmlns:p14="http://schemas.microsoft.com/office/powerpoint/2010/main" val="9064753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ECF725C5-C86D-42A4-8A96-259F8928D68F}"/>
              </a:ext>
            </a:extLst>
          </p:cNvPr>
          <p:cNvCxnSpPr>
            <a:stCxn xmlns:a="http://schemas.openxmlformats.org/drawingml/2006/main" id="18" idx="3"/>
            <a:endCxn xmlns:a="http://schemas.openxmlformats.org/drawingml/2006/main" id="24" idx="1"/>
          </p:cNvCxnSpPr>
          <p:nvPr/>
        </p:nvCxnSpPr>
        <p:spPr>
          <a:xfrm xmlns:a="http://schemas.openxmlformats.org/drawingml/2006/main">
            <a:off x="8953500" y="4419600"/>
            <a:ext cx="476250"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23" name="">
            <a:extLst xmlns:a="http://schemas.openxmlformats.org/drawingml/2006/main">
              <a:ext uri="{FF2B5EF4-FFF2-40B4-BE49-F238E27FC236}">
                <a16:creationId xmlns:a16="http://schemas.microsoft.com/office/drawing/2014/main" id="{22B0FA30-6002-4CAF-B75A-BD97ADF780AB}"/>
              </a:ext>
            </a:extLst>
          </p:cNvPr>
          <p:cNvCxnSpPr>
            <a:stCxn xmlns:a="http://schemas.openxmlformats.org/drawingml/2006/main" id="7" idx="2"/>
            <a:endCxn xmlns:a="http://schemas.openxmlformats.org/drawingml/2006/main" id="18" idx="0"/>
          </p:cNvCxnSpPr>
          <p:nvPr/>
        </p:nvCxnSpPr>
        <p:spPr>
          <a:xfrm xmlns:a="http://schemas.openxmlformats.org/drawingml/2006/main">
            <a:off x="5753100" y="3028950"/>
            <a:ext cx="1990725" cy="91440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22" name="">
            <a:extLst xmlns:a="http://schemas.openxmlformats.org/drawingml/2006/main">
              <a:ext uri="{FF2B5EF4-FFF2-40B4-BE49-F238E27FC236}">
                <a16:creationId xmlns:a16="http://schemas.microsoft.com/office/drawing/2014/main" id="{BD23D75D-4229-4187-A4AB-B75B3B700E92}"/>
              </a:ext>
            </a:extLst>
          </p:cNvPr>
          <p:cNvCxnSpPr>
            <a:stCxn xmlns:a="http://schemas.openxmlformats.org/drawingml/2006/main" id="15" idx="3"/>
            <a:endCxn xmlns:a="http://schemas.openxmlformats.org/drawingml/2006/main" id="18" idx="1"/>
          </p:cNvCxnSpPr>
          <p:nvPr/>
        </p:nvCxnSpPr>
        <p:spPr>
          <a:xfrm xmlns:a="http://schemas.openxmlformats.org/drawingml/2006/main">
            <a:off x="5991225" y="4419600"/>
            <a:ext cx="542925"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CB189E8F-4867-4964-B7EB-3836C8CC5153}"/>
              </a:ext>
            </a:extLst>
          </p:cNvPr>
          <p:cNvCxnSpPr>
            <a:stCxn xmlns:a="http://schemas.openxmlformats.org/drawingml/2006/main" id="12" idx="3"/>
            <a:endCxn xmlns:a="http://schemas.openxmlformats.org/drawingml/2006/main" id="15" idx="1"/>
          </p:cNvCxnSpPr>
          <p:nvPr/>
        </p:nvCxnSpPr>
        <p:spPr>
          <a:xfrm xmlns:a="http://schemas.openxmlformats.org/drawingml/2006/main">
            <a:off x="3028950" y="4419600"/>
            <a:ext cx="542925"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10" name="">
            <a:extLst xmlns:a="http://schemas.openxmlformats.org/drawingml/2006/main">
              <a:ext uri="{FF2B5EF4-FFF2-40B4-BE49-F238E27FC236}">
                <a16:creationId xmlns:a16="http://schemas.microsoft.com/office/drawing/2014/main" id="{869BA77E-AA94-4CD4-B164-2F850B26CD72}"/>
              </a:ext>
            </a:extLst>
          </p:cNvPr>
          <p:cNvCxnSpPr>
            <a:stCxn xmlns:a="http://schemas.openxmlformats.org/drawingml/2006/main" id="4" idx="3"/>
            <a:endCxn xmlns:a="http://schemas.openxmlformats.org/drawingml/2006/main" id="7" idx="1"/>
          </p:cNvCxnSpPr>
          <p:nvPr/>
        </p:nvCxnSpPr>
        <p:spPr>
          <a:xfrm xmlns:a="http://schemas.openxmlformats.org/drawingml/2006/main">
            <a:off x="3467100" y="2552700"/>
            <a:ext cx="857250"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sp>
        <p:nvSpPr>
          <p:cNvPr id="31" name="">
            <a:extLst xmlns:a="http://schemas.openxmlformats.org/drawingml/2006/main">
              <a:ext uri="{FF2B5EF4-FFF2-40B4-BE49-F238E27FC236}">
                <a16:creationId xmlns:a16="http://schemas.microsoft.com/office/drawing/2014/main" id="{2BE86574-17F5-4A80-A3DB-4C4C79AD98B6}"/>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Current prototype architecture</a:t>
            </a:r>
          </a:p>
        </p:txBody>
      </p:sp>
      <p:sp>
        <p:nvSpPr>
          <p:cNvPr id="2" name="">
            <a:extLst xmlns:a="http://schemas.openxmlformats.org/drawingml/2006/main">
              <a:ext uri="{FF2B5EF4-FFF2-40B4-BE49-F238E27FC236}">
                <a16:creationId xmlns:a16="http://schemas.microsoft.com/office/drawing/2014/main" id="{FAB41EB0-A134-427F-9A13-1F51B36763F2}"/>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3 / 8</a:t>
            </a:r>
          </a:p>
        </p:txBody>
      </p:sp>
      <p:sp>
        <p:nvSpPr>
          <p:cNvPr id="3" name="">
            <a:extLst xmlns:a="http://schemas.openxmlformats.org/drawingml/2006/main">
              <a:ext uri="{FF2B5EF4-FFF2-40B4-BE49-F238E27FC236}">
                <a16:creationId xmlns:a16="http://schemas.microsoft.com/office/drawing/2014/main" id="{0B6CE5E2-ABF9-4D34-9E29-EEFA7F66BF23}"/>
              </a:ext>
            </a:extLst>
          </p:cNvPr>
          <p:cNvSpPr>
            <a:spLocks xmlns:a="http://schemas.openxmlformats.org/drawingml/2006/main" noGrp="1"/>
          </p:cNvSpPr>
          <p:nvPr/>
        </p:nvSpPr>
        <p:spPr>
          <a:xfrm xmlns:a="http://schemas.openxmlformats.org/drawingml/2006/main">
            <a:off x="609600" y="1571625"/>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87E70"/>
                </a:solidFill>
                <a:latin typeface="Arial"/>
                <a:ea typeface="Arial"/>
                <a:cs typeface="Arial"/>
              </a:defRPr>
            </a:defPPr>
          </a:lstStyle>
          <a:p xmlns:a="http://schemas.openxmlformats.org/drawingml/2006/main">
            <a:pPr>
              <a:defRPr sz="1725" b="1">
                <a:solidFill>
                  <a:srgbClr val="087E70"/>
                </a:solidFill>
                <a:latin typeface="Arial"/>
                <a:ea typeface="Arial"/>
                <a:cs typeface="Arial"/>
              </a:defRPr>
            </a:pPr>
            <a:r>
              <a:rPr sz="1725" b="1">
                <a:solidFill>
                  <a:srgbClr val="087E70"/>
                </a:solidFill>
                <a:latin typeface="Arial"/>
                <a:ea typeface="Arial"/>
                <a:cs typeface="Arial"/>
              </a:rPr>
              <a:t>Hosted CI and registry</a:t>
            </a:r>
          </a:p>
        </p:txBody>
      </p:sp>
      <p:sp>
        <p:nvSpPr>
          <p:cNvPr id="4" name="">
            <a:extLst xmlns:a="http://schemas.openxmlformats.org/drawingml/2006/main">
              <a:ext uri="{FF2B5EF4-FFF2-40B4-BE49-F238E27FC236}">
                <a16:creationId xmlns:a16="http://schemas.microsoft.com/office/drawing/2014/main" id="{D6346AF1-ACC4-4058-8F43-2D9E8EF0CAEE}"/>
              </a:ext>
            </a:extLst>
          </p:cNvPr>
          <p:cNvSpPr>
            <a:spLocks xmlns:a="http://schemas.openxmlformats.org/drawingml/2006/main" noGrp="1"/>
          </p:cNvSpPr>
          <p:nvPr/>
        </p:nvSpPr>
        <p:spPr>
          <a:xfrm xmlns:a="http://schemas.openxmlformats.org/drawingml/2006/main">
            <a:off x="609600" y="2076450"/>
            <a:ext cx="285750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5" name="">
            <a:extLst xmlns:a="http://schemas.openxmlformats.org/drawingml/2006/main">
              <a:ext uri="{FF2B5EF4-FFF2-40B4-BE49-F238E27FC236}">
                <a16:creationId xmlns:a16="http://schemas.microsoft.com/office/drawing/2014/main" id="{E25541E6-28DC-4E47-B7DB-F75E41A49B3D}"/>
              </a:ext>
            </a:extLst>
          </p:cNvPr>
          <p:cNvSpPr>
            <a:spLocks xmlns:a="http://schemas.openxmlformats.org/drawingml/2006/main" noGrp="1"/>
          </p:cNvSpPr>
          <p:nvPr/>
        </p:nvSpPr>
        <p:spPr>
          <a:xfrm xmlns:a="http://schemas.openxmlformats.org/drawingml/2006/main">
            <a:off x="781050" y="2190750"/>
            <a:ext cx="2514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GitHub Actions</a:t>
            </a:r>
          </a:p>
        </p:txBody>
      </p:sp>
      <p:sp>
        <p:nvSpPr>
          <p:cNvPr id="6" name="">
            <a:extLst xmlns:a="http://schemas.openxmlformats.org/drawingml/2006/main">
              <a:ext uri="{FF2B5EF4-FFF2-40B4-BE49-F238E27FC236}">
                <a16:creationId xmlns:a16="http://schemas.microsoft.com/office/drawing/2014/main" id="{93A1178D-2F77-4422-AAEF-C2DBBCD7E969}"/>
              </a:ext>
            </a:extLst>
          </p:cNvPr>
          <p:cNvSpPr>
            <a:spLocks xmlns:a="http://schemas.openxmlformats.org/drawingml/2006/main" noGrp="1"/>
          </p:cNvSpPr>
          <p:nvPr/>
        </p:nvSpPr>
        <p:spPr>
          <a:xfrm xmlns:a="http://schemas.openxmlformats.org/drawingml/2006/main">
            <a:off x="781050" y="2543175"/>
            <a:ext cx="2514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Tests, scans and image build</a:t>
            </a:r>
          </a:p>
        </p:txBody>
      </p:sp>
      <p:sp>
        <p:nvSpPr>
          <p:cNvPr id="7" name="">
            <a:extLst xmlns:a="http://schemas.openxmlformats.org/drawingml/2006/main">
              <a:ext uri="{FF2B5EF4-FFF2-40B4-BE49-F238E27FC236}">
                <a16:creationId xmlns:a16="http://schemas.microsoft.com/office/drawing/2014/main" id="{638AAB90-CB45-4A81-965F-42D7E2C0F6FE}"/>
              </a:ext>
            </a:extLst>
          </p:cNvPr>
          <p:cNvSpPr>
            <a:spLocks xmlns:a="http://schemas.openxmlformats.org/drawingml/2006/main" noGrp="1"/>
          </p:cNvSpPr>
          <p:nvPr/>
        </p:nvSpPr>
        <p:spPr>
          <a:xfrm xmlns:a="http://schemas.openxmlformats.org/drawingml/2006/main">
            <a:off x="4324350" y="2076450"/>
            <a:ext cx="285750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8" name="">
            <a:extLst xmlns:a="http://schemas.openxmlformats.org/drawingml/2006/main">
              <a:ext uri="{FF2B5EF4-FFF2-40B4-BE49-F238E27FC236}">
                <a16:creationId xmlns:a16="http://schemas.microsoft.com/office/drawing/2014/main" id="{71FA020B-2F44-4731-AE5C-A6FABB7A3812}"/>
              </a:ext>
            </a:extLst>
          </p:cNvPr>
          <p:cNvSpPr>
            <a:spLocks xmlns:a="http://schemas.openxmlformats.org/drawingml/2006/main" noGrp="1"/>
          </p:cNvSpPr>
          <p:nvPr/>
        </p:nvSpPr>
        <p:spPr>
          <a:xfrm xmlns:a="http://schemas.openxmlformats.org/drawingml/2006/main">
            <a:off x="4495800" y="2190750"/>
            <a:ext cx="2514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GHCR</a:t>
            </a:r>
          </a:p>
        </p:txBody>
      </p:sp>
      <p:sp>
        <p:nvSpPr>
          <p:cNvPr id="9" name="">
            <a:extLst xmlns:a="http://schemas.openxmlformats.org/drawingml/2006/main">
              <a:ext uri="{FF2B5EF4-FFF2-40B4-BE49-F238E27FC236}">
                <a16:creationId xmlns:a16="http://schemas.microsoft.com/office/drawing/2014/main" id="{B56CD7C3-FF96-42B0-ABCD-B4A264631C87}"/>
              </a:ext>
            </a:extLst>
          </p:cNvPr>
          <p:cNvSpPr>
            <a:spLocks xmlns:a="http://schemas.openxmlformats.org/drawingml/2006/main" noGrp="1"/>
          </p:cNvSpPr>
          <p:nvPr/>
        </p:nvSpPr>
        <p:spPr>
          <a:xfrm xmlns:a="http://schemas.openxmlformats.org/drawingml/2006/main">
            <a:off x="4495800" y="2543175"/>
            <a:ext cx="2514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Published inference images</a:t>
            </a:r>
          </a:p>
        </p:txBody>
      </p:sp>
      <p:sp>
        <p:nvSpPr>
          <p:cNvPr id="11" name="">
            <a:extLst xmlns:a="http://schemas.openxmlformats.org/drawingml/2006/main">
              <a:ext uri="{FF2B5EF4-FFF2-40B4-BE49-F238E27FC236}">
                <a16:creationId xmlns:a16="http://schemas.microsoft.com/office/drawing/2014/main" id="{E4427137-5E16-45A8-8286-84DBBEDDCB94}"/>
              </a:ext>
            </a:extLst>
          </p:cNvPr>
          <p:cNvSpPr>
            <a:spLocks xmlns:a="http://schemas.openxmlformats.org/drawingml/2006/main" noGrp="1"/>
          </p:cNvSpPr>
          <p:nvPr/>
        </p:nvSpPr>
        <p:spPr>
          <a:xfrm xmlns:a="http://schemas.openxmlformats.org/drawingml/2006/main">
            <a:off x="609600" y="3381375"/>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87E70"/>
                </a:solidFill>
                <a:latin typeface="Arial"/>
                <a:ea typeface="Arial"/>
                <a:cs typeface="Arial"/>
              </a:defRPr>
            </a:defPPr>
          </a:lstStyle>
          <a:p xmlns:a="http://schemas.openxmlformats.org/drawingml/2006/main">
            <a:pPr>
              <a:defRPr sz="1725" b="1">
                <a:solidFill>
                  <a:srgbClr val="087E70"/>
                </a:solidFill>
                <a:latin typeface="Arial"/>
                <a:ea typeface="Arial"/>
                <a:cs typeface="Arial"/>
              </a:defRPr>
            </a:pPr>
            <a:r>
              <a:rPr sz="1725" b="1">
                <a:solidFill>
                  <a:srgbClr val="087E70"/>
                </a:solidFill>
                <a:latin typeface="Arial"/>
                <a:ea typeface="Arial"/>
                <a:cs typeface="Arial"/>
              </a:rPr>
              <a:t>Local Kubernetes on kind</a:t>
            </a:r>
          </a:p>
        </p:txBody>
      </p:sp>
      <p:sp>
        <p:nvSpPr>
          <p:cNvPr id="12" name="">
            <a:extLst xmlns:a="http://schemas.openxmlformats.org/drawingml/2006/main">
              <a:ext uri="{FF2B5EF4-FFF2-40B4-BE49-F238E27FC236}">
                <a16:creationId xmlns:a16="http://schemas.microsoft.com/office/drawing/2014/main" id="{7600E4F3-B5A0-40CC-87E6-C3636168C0DE}"/>
              </a:ext>
            </a:extLst>
          </p:cNvPr>
          <p:cNvSpPr>
            <a:spLocks xmlns:a="http://schemas.openxmlformats.org/drawingml/2006/main" noGrp="1"/>
          </p:cNvSpPr>
          <p:nvPr/>
        </p:nvSpPr>
        <p:spPr>
          <a:xfrm xmlns:a="http://schemas.openxmlformats.org/drawingml/2006/main">
            <a:off x="609600" y="3943350"/>
            <a:ext cx="241935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3" name="">
            <a:extLst xmlns:a="http://schemas.openxmlformats.org/drawingml/2006/main">
              <a:ext uri="{FF2B5EF4-FFF2-40B4-BE49-F238E27FC236}">
                <a16:creationId xmlns:a16="http://schemas.microsoft.com/office/drawing/2014/main" id="{17766B50-32BC-4425-A639-D5FEFEE7345E}"/>
              </a:ext>
            </a:extLst>
          </p:cNvPr>
          <p:cNvSpPr>
            <a:spLocks xmlns:a="http://schemas.openxmlformats.org/drawingml/2006/main" noGrp="1"/>
          </p:cNvSpPr>
          <p:nvPr/>
        </p:nvSpPr>
        <p:spPr>
          <a:xfrm xmlns:a="http://schemas.openxmlformats.org/drawingml/2006/main">
            <a:off x="781050" y="4057650"/>
            <a:ext cx="2076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CLI + YAML</a:t>
            </a:r>
          </a:p>
        </p:txBody>
      </p:sp>
      <p:sp>
        <p:nvSpPr>
          <p:cNvPr id="14" name="">
            <a:extLst xmlns:a="http://schemas.openxmlformats.org/drawingml/2006/main">
              <a:ext uri="{FF2B5EF4-FFF2-40B4-BE49-F238E27FC236}">
                <a16:creationId xmlns:a16="http://schemas.microsoft.com/office/drawing/2014/main" id="{D70FD238-D160-47FB-A925-54EFE7FF5C63}"/>
              </a:ext>
            </a:extLst>
          </p:cNvPr>
          <p:cNvSpPr>
            <a:spLocks xmlns:a="http://schemas.openxmlformats.org/drawingml/2006/main" noGrp="1"/>
          </p:cNvSpPr>
          <p:nvPr/>
        </p:nvSpPr>
        <p:spPr>
          <a:xfrm xmlns:a="http://schemas.openxmlformats.org/drawingml/2006/main">
            <a:off x="781050" y="4410075"/>
            <a:ext cx="207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Validation and deployment</a:t>
            </a:r>
          </a:p>
        </p:txBody>
      </p:sp>
      <p:sp>
        <p:nvSpPr>
          <p:cNvPr id="15" name="">
            <a:extLst xmlns:a="http://schemas.openxmlformats.org/drawingml/2006/main">
              <a:ext uri="{FF2B5EF4-FFF2-40B4-BE49-F238E27FC236}">
                <a16:creationId xmlns:a16="http://schemas.microsoft.com/office/drawing/2014/main" id="{40DC4B2A-0EB5-456A-8183-21D4ED436B71}"/>
              </a:ext>
            </a:extLst>
          </p:cNvPr>
          <p:cNvSpPr>
            <a:spLocks xmlns:a="http://schemas.openxmlformats.org/drawingml/2006/main" noGrp="1"/>
          </p:cNvSpPr>
          <p:nvPr/>
        </p:nvSpPr>
        <p:spPr>
          <a:xfrm xmlns:a="http://schemas.openxmlformats.org/drawingml/2006/main">
            <a:off x="3571875" y="3943350"/>
            <a:ext cx="241935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6" name="">
            <a:extLst xmlns:a="http://schemas.openxmlformats.org/drawingml/2006/main">
              <a:ext uri="{FF2B5EF4-FFF2-40B4-BE49-F238E27FC236}">
                <a16:creationId xmlns:a16="http://schemas.microsoft.com/office/drawing/2014/main" id="{E72BB568-018B-42A4-8941-E9CE2916B390}"/>
              </a:ext>
            </a:extLst>
          </p:cNvPr>
          <p:cNvSpPr>
            <a:spLocks xmlns:a="http://schemas.openxmlformats.org/drawingml/2006/main" noGrp="1"/>
          </p:cNvSpPr>
          <p:nvPr/>
        </p:nvSpPr>
        <p:spPr>
          <a:xfrm xmlns:a="http://schemas.openxmlformats.org/drawingml/2006/main">
            <a:off x="3743325" y="4057650"/>
            <a:ext cx="2076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Helm / Argo CD</a:t>
            </a:r>
          </a:p>
        </p:txBody>
      </p:sp>
      <p:sp>
        <p:nvSpPr>
          <p:cNvPr id="17" name="">
            <a:extLst xmlns:a="http://schemas.openxmlformats.org/drawingml/2006/main">
              <a:ext uri="{FF2B5EF4-FFF2-40B4-BE49-F238E27FC236}">
                <a16:creationId xmlns:a16="http://schemas.microsoft.com/office/drawing/2014/main" id="{C745DEF5-565E-44C6-A412-1C81682BCE66}"/>
              </a:ext>
            </a:extLst>
          </p:cNvPr>
          <p:cNvSpPr>
            <a:spLocks xmlns:a="http://schemas.openxmlformats.org/drawingml/2006/main" noGrp="1"/>
          </p:cNvSpPr>
          <p:nvPr/>
        </p:nvSpPr>
        <p:spPr>
          <a:xfrm xmlns:a="http://schemas.openxmlformats.org/drawingml/2006/main">
            <a:off x="3743325" y="4410075"/>
            <a:ext cx="207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Direct or GitOps delivery</a:t>
            </a:r>
          </a:p>
        </p:txBody>
      </p:sp>
      <p:sp>
        <p:nvSpPr>
          <p:cNvPr id="18" name="">
            <a:extLst xmlns:a="http://schemas.openxmlformats.org/drawingml/2006/main">
              <a:ext uri="{FF2B5EF4-FFF2-40B4-BE49-F238E27FC236}">
                <a16:creationId xmlns:a16="http://schemas.microsoft.com/office/drawing/2014/main" id="{88BBE50F-D6F7-4A60-ABAA-7AA35ED68F47}"/>
              </a:ext>
            </a:extLst>
          </p:cNvPr>
          <p:cNvSpPr>
            <a:spLocks xmlns:a="http://schemas.openxmlformats.org/drawingml/2006/main" noGrp="1"/>
          </p:cNvSpPr>
          <p:nvPr/>
        </p:nvSpPr>
        <p:spPr>
          <a:xfrm xmlns:a="http://schemas.openxmlformats.org/drawingml/2006/main">
            <a:off x="6534150" y="3943350"/>
            <a:ext cx="241935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9" name="">
            <a:extLst xmlns:a="http://schemas.openxmlformats.org/drawingml/2006/main">
              <a:ext uri="{FF2B5EF4-FFF2-40B4-BE49-F238E27FC236}">
                <a16:creationId xmlns:a16="http://schemas.microsoft.com/office/drawing/2014/main" id="{02D3BB5C-C26A-4B98-8595-88D43BB3AFBA}"/>
              </a:ext>
            </a:extLst>
          </p:cNvPr>
          <p:cNvSpPr>
            <a:spLocks xmlns:a="http://schemas.openxmlformats.org/drawingml/2006/main" noGrp="1"/>
          </p:cNvSpPr>
          <p:nvPr/>
        </p:nvSpPr>
        <p:spPr>
          <a:xfrm xmlns:a="http://schemas.openxmlformats.org/drawingml/2006/main">
            <a:off x="6705600" y="4057650"/>
            <a:ext cx="2076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Inference pod</a:t>
            </a:r>
          </a:p>
        </p:txBody>
      </p:sp>
      <p:sp>
        <p:nvSpPr>
          <p:cNvPr id="20" name="">
            <a:extLst xmlns:a="http://schemas.openxmlformats.org/drawingml/2006/main">
              <a:ext uri="{FF2B5EF4-FFF2-40B4-BE49-F238E27FC236}">
                <a16:creationId xmlns:a16="http://schemas.microsoft.com/office/drawing/2014/main" id="{4104ED02-04FF-4767-8CE7-1153E2F62D12}"/>
              </a:ext>
            </a:extLst>
          </p:cNvPr>
          <p:cNvSpPr>
            <a:spLocks xmlns:a="http://schemas.openxmlformats.org/drawingml/2006/main" noGrp="1"/>
          </p:cNvSpPr>
          <p:nvPr/>
        </p:nvSpPr>
        <p:spPr>
          <a:xfrm xmlns:a="http://schemas.openxmlformats.org/drawingml/2006/main">
            <a:off x="6705600" y="4410075"/>
            <a:ext cx="207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Qwen 0.5B model</a:t>
            </a:r>
          </a:p>
        </p:txBody>
      </p:sp>
      <p:sp>
        <p:nvSpPr>
          <p:cNvPr id="24" name="">
            <a:extLst xmlns:a="http://schemas.openxmlformats.org/drawingml/2006/main">
              <a:ext uri="{FF2B5EF4-FFF2-40B4-BE49-F238E27FC236}">
                <a16:creationId xmlns:a16="http://schemas.microsoft.com/office/drawing/2014/main" id="{7D3554ED-97EB-40BC-BD0A-1FD5EE096549}"/>
              </a:ext>
            </a:extLst>
          </p:cNvPr>
          <p:cNvSpPr>
            <a:spLocks xmlns:a="http://schemas.openxmlformats.org/drawingml/2006/main" noGrp="1"/>
          </p:cNvSpPr>
          <p:nvPr/>
        </p:nvSpPr>
        <p:spPr>
          <a:xfrm xmlns:a="http://schemas.openxmlformats.org/drawingml/2006/main">
            <a:off x="9429750" y="3943350"/>
            <a:ext cx="2133600" cy="9525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25" name="">
            <a:extLst xmlns:a="http://schemas.openxmlformats.org/drawingml/2006/main">
              <a:ext uri="{FF2B5EF4-FFF2-40B4-BE49-F238E27FC236}">
                <a16:creationId xmlns:a16="http://schemas.microsoft.com/office/drawing/2014/main" id="{B1BD90F0-D140-4101-91DD-A0BDDCB37240}"/>
              </a:ext>
            </a:extLst>
          </p:cNvPr>
          <p:cNvSpPr>
            <a:spLocks xmlns:a="http://schemas.openxmlformats.org/drawingml/2006/main" noGrp="1"/>
          </p:cNvSpPr>
          <p:nvPr/>
        </p:nvSpPr>
        <p:spPr>
          <a:xfrm xmlns:a="http://schemas.openxmlformats.org/drawingml/2006/main">
            <a:off x="9601200" y="4057650"/>
            <a:ext cx="1790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Model cache</a:t>
            </a:r>
          </a:p>
        </p:txBody>
      </p:sp>
      <p:sp>
        <p:nvSpPr>
          <p:cNvPr id="26" name="">
            <a:extLst xmlns:a="http://schemas.openxmlformats.org/drawingml/2006/main">
              <a:ext uri="{FF2B5EF4-FFF2-40B4-BE49-F238E27FC236}">
                <a16:creationId xmlns:a16="http://schemas.microsoft.com/office/drawing/2014/main" id="{3AE395F2-F727-4492-9EA4-F6E32CD0CB84}"/>
              </a:ext>
            </a:extLst>
          </p:cNvPr>
          <p:cNvSpPr>
            <a:spLocks xmlns:a="http://schemas.openxmlformats.org/drawingml/2006/main" noGrp="1"/>
          </p:cNvSpPr>
          <p:nvPr/>
        </p:nvSpPr>
        <p:spPr>
          <a:xfrm xmlns:a="http://schemas.openxmlformats.org/drawingml/2006/main">
            <a:off x="9601200" y="4410075"/>
            <a:ext cx="179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Persistent volume</a:t>
            </a:r>
          </a:p>
        </p:txBody>
      </p:sp>
      <p:sp>
        <p:nvSpPr>
          <p:cNvPr id="28" name="">
            <a:extLst xmlns:a="http://schemas.openxmlformats.org/drawingml/2006/main">
              <a:ext uri="{FF2B5EF4-FFF2-40B4-BE49-F238E27FC236}">
                <a16:creationId xmlns:a16="http://schemas.microsoft.com/office/drawing/2014/main" id="{C74013D5-81A1-4B2F-89CF-6DF691A86C59}"/>
              </a:ext>
            </a:extLst>
          </p:cNvPr>
          <p:cNvSpPr>
            <a:spLocks xmlns:a="http://schemas.openxmlformats.org/drawingml/2006/main" noGrp="1"/>
          </p:cNvSpPr>
          <p:nvPr/>
        </p:nvSpPr>
        <p:spPr>
          <a:xfrm xmlns:a="http://schemas.openxmlformats.org/drawingml/2006/main">
            <a:off x="609600" y="54292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ingress-nginx routes requests to the pod</a:t>
            </a:r>
          </a:p>
        </p:txBody>
      </p:sp>
      <p:sp>
        <p:nvSpPr>
          <p:cNvPr id="29" name="">
            <a:extLst xmlns:a="http://schemas.openxmlformats.org/drawingml/2006/main">
              <a:ext uri="{FF2B5EF4-FFF2-40B4-BE49-F238E27FC236}">
                <a16:creationId xmlns:a16="http://schemas.microsoft.com/office/drawing/2014/main" id="{E40F862C-8344-4216-98B0-59F05A5223E8}"/>
              </a:ext>
            </a:extLst>
          </p:cNvPr>
          <p:cNvSpPr>
            <a:spLocks xmlns:a="http://schemas.openxmlformats.org/drawingml/2006/main" noGrp="1"/>
          </p:cNvSpPr>
          <p:nvPr/>
        </p:nvSpPr>
        <p:spPr>
          <a:xfrm xmlns:a="http://schemas.openxmlformats.org/drawingml/2006/main">
            <a:off x="609600" y="5867400"/>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Prometheus / Grafana metrics</a:t>
            </a:r>
          </a:p>
        </p:txBody>
      </p:sp>
      <p:sp>
        <p:nvSpPr>
          <p:cNvPr id="30" name="">
            <a:extLst xmlns:a="http://schemas.openxmlformats.org/drawingml/2006/main">
              <a:ext uri="{FF2B5EF4-FFF2-40B4-BE49-F238E27FC236}">
                <a16:creationId xmlns:a16="http://schemas.microsoft.com/office/drawing/2014/main" id="{310F41DF-88E6-4E65-AA54-6FE533315D34}"/>
              </a:ext>
            </a:extLst>
          </p:cNvPr>
          <p:cNvSpPr>
            <a:spLocks xmlns:a="http://schemas.openxmlformats.org/drawingml/2006/main" noGrp="1"/>
          </p:cNvSpPr>
          <p:nvPr/>
        </p:nvSpPr>
        <p:spPr>
          <a:xfrm xmlns:a="http://schemas.openxmlformats.org/drawingml/2006/main">
            <a:off x="6191250" y="5867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OpenTelemetry / Jaeger traces</a:t>
            </a:r>
          </a:p>
        </p:txBody>
      </p:sp>
    </p:spTree>
    <p:extLst>
      <p:ext uri="{BB962C8B-B14F-4D97-AF65-F5344CB8AC3E}">
        <p14:creationId xmlns:p14="http://schemas.microsoft.com/office/powerpoint/2010/main" val="225566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8EDDC317-9A54-446D-BD73-538F8B2DA016}"/>
              </a:ext>
            </a:extLst>
          </p:cNvPr>
          <p:cNvCxnSpPr>
            <a:stCxn xmlns:a="http://schemas.openxmlformats.org/drawingml/2006/main" id="7" idx="3"/>
            <a:endCxn xmlns:a="http://schemas.openxmlformats.org/drawingml/2006/main" id="10" idx="1"/>
          </p:cNvCxnSpPr>
          <p:nvPr/>
        </p:nvCxnSpPr>
        <p:spPr>
          <a:xfrm xmlns:a="http://schemas.openxmlformats.org/drawingml/2006/main">
            <a:off x="7381875" y="3181350"/>
            <a:ext cx="1038225"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BDE56E7A-FA0A-4383-8B8F-69C7BA3A9C2F}"/>
              </a:ext>
            </a:extLst>
          </p:cNvPr>
          <p:cNvCxnSpPr>
            <a:stCxn xmlns:a="http://schemas.openxmlformats.org/drawingml/2006/main" id="4" idx="3"/>
            <a:endCxn xmlns:a="http://schemas.openxmlformats.org/drawingml/2006/main" id="7" idx="1"/>
          </p:cNvCxnSpPr>
          <p:nvPr/>
        </p:nvCxnSpPr>
        <p:spPr>
          <a:xfrm xmlns:a="http://schemas.openxmlformats.org/drawingml/2006/main">
            <a:off x="3048000" y="3181350"/>
            <a:ext cx="666750" cy="0"/>
          </a:xfrm>
          <a:prstGeom xmlns:a="http://schemas.openxmlformats.org/drawingml/2006/main" prst="straightConnector1">
            <a:avLst/>
          </a:prstGeom>
          <a:ln xmlns:a="http://schemas.openxmlformats.org/drawingml/2006/main" w="19050">
            <a:solidFill>
              <a:srgbClr val="087E70"/>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2AEF3D70-9447-4BF0-93F2-4336AC740957}"/>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Verified AWS midpoint deployment</a:t>
            </a:r>
          </a:p>
        </p:txBody>
      </p:sp>
      <p:sp>
        <p:nvSpPr>
          <p:cNvPr id="2" name="">
            <a:extLst xmlns:a="http://schemas.openxmlformats.org/drawingml/2006/main">
              <a:ext uri="{FF2B5EF4-FFF2-40B4-BE49-F238E27FC236}">
                <a16:creationId xmlns:a16="http://schemas.microsoft.com/office/drawing/2014/main" id="{BCAFC17C-0CD7-48C5-B343-CE80AB7EFBAB}"/>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4 / 8</a:t>
            </a:r>
          </a:p>
        </p:txBody>
      </p:sp>
      <p:sp>
        <p:nvSpPr>
          <p:cNvPr id="3" name="">
            <a:extLst xmlns:a="http://schemas.openxmlformats.org/drawingml/2006/main">
              <a:ext uri="{FF2B5EF4-FFF2-40B4-BE49-F238E27FC236}">
                <a16:creationId xmlns:a16="http://schemas.microsoft.com/office/drawing/2014/main" id="{A6E3F275-C4AA-46CF-8E9B-88415FB949AF}"/>
              </a:ext>
            </a:extLst>
          </p:cNvPr>
          <p:cNvSpPr>
            <a:spLocks xmlns:a="http://schemas.openxmlformats.org/drawingml/2006/main" noGrp="1"/>
          </p:cNvSpPr>
          <p:nvPr/>
        </p:nvSpPr>
        <p:spPr>
          <a:xfrm xmlns:a="http://schemas.openxmlformats.org/drawingml/2006/main">
            <a:off x="609600" y="157162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087E70"/>
                </a:solidFill>
                <a:latin typeface="Arial"/>
                <a:ea typeface="Arial"/>
                <a:cs typeface="Arial"/>
              </a:defRPr>
            </a:defPPr>
          </a:lstStyle>
          <a:p xmlns:a="http://schemas.openxmlformats.org/drawingml/2006/main">
            <a:pPr>
              <a:defRPr sz="1800" b="1">
                <a:solidFill>
                  <a:srgbClr val="087E70"/>
                </a:solidFill>
                <a:latin typeface="Arial"/>
                <a:ea typeface="Arial"/>
                <a:cs typeface="Arial"/>
              </a:defRPr>
            </a:pPr>
            <a:r>
              <a:rPr sz="1800" b="1">
                <a:solidFill>
                  <a:srgbClr val="087E70"/>
                </a:solidFill>
                <a:latin typeface="Arial"/>
                <a:ea typeface="Arial"/>
                <a:cs typeface="Arial"/>
              </a:rPr>
              <a:t>Qwen model response and native metrics verified on EC2</a:t>
            </a:r>
          </a:p>
        </p:txBody>
      </p:sp>
      <p:sp>
        <p:nvSpPr>
          <p:cNvPr id="4" name="">
            <a:extLst xmlns:a="http://schemas.openxmlformats.org/drawingml/2006/main">
              <a:ext uri="{FF2B5EF4-FFF2-40B4-BE49-F238E27FC236}">
                <a16:creationId xmlns:a16="http://schemas.microsoft.com/office/drawing/2014/main" id="{0483EA66-759C-4A5C-811B-30879C59A3FF}"/>
              </a:ext>
            </a:extLst>
          </p:cNvPr>
          <p:cNvSpPr>
            <a:spLocks xmlns:a="http://schemas.openxmlformats.org/drawingml/2006/main" noGrp="1"/>
          </p:cNvSpPr>
          <p:nvPr/>
        </p:nvSpPr>
        <p:spPr>
          <a:xfrm xmlns:a="http://schemas.openxmlformats.org/drawingml/2006/main">
            <a:off x="609600" y="2667000"/>
            <a:ext cx="2438400" cy="10287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5" name="">
            <a:extLst xmlns:a="http://schemas.openxmlformats.org/drawingml/2006/main">
              <a:ext uri="{FF2B5EF4-FFF2-40B4-BE49-F238E27FC236}">
                <a16:creationId xmlns:a16="http://schemas.microsoft.com/office/drawing/2014/main" id="{1C252C6A-8499-4AD5-8243-114909FDAD74}"/>
              </a:ext>
            </a:extLst>
          </p:cNvPr>
          <p:cNvSpPr>
            <a:spLocks xmlns:a="http://schemas.openxmlformats.org/drawingml/2006/main" noGrp="1"/>
          </p:cNvSpPr>
          <p:nvPr/>
        </p:nvSpPr>
        <p:spPr>
          <a:xfrm xmlns:a="http://schemas.openxmlformats.org/drawingml/2006/main">
            <a:off x="781050" y="27813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Operator IP</a:t>
            </a:r>
          </a:p>
        </p:txBody>
      </p:sp>
      <p:sp>
        <p:nvSpPr>
          <p:cNvPr id="6" name="">
            <a:extLst xmlns:a="http://schemas.openxmlformats.org/drawingml/2006/main">
              <a:ext uri="{FF2B5EF4-FFF2-40B4-BE49-F238E27FC236}">
                <a16:creationId xmlns:a16="http://schemas.microsoft.com/office/drawing/2014/main" id="{ADCCDDBB-F377-4709-96D7-97D74B37918A}"/>
              </a:ext>
            </a:extLst>
          </p:cNvPr>
          <p:cNvSpPr>
            <a:spLocks xmlns:a="http://schemas.openxmlformats.org/drawingml/2006/main" noGrp="1"/>
          </p:cNvSpPr>
          <p:nvPr/>
        </p:nvSpPr>
        <p:spPr>
          <a:xfrm xmlns:a="http://schemas.openxmlformats.org/drawingml/2006/main">
            <a:off x="781050" y="3133725"/>
            <a:ext cx="2095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/32 access on TCP 8000</a:t>
            </a:r>
          </a:p>
        </p:txBody>
      </p:sp>
      <p:sp>
        <p:nvSpPr>
          <p:cNvPr id="7" name="">
            <a:extLst xmlns:a="http://schemas.openxmlformats.org/drawingml/2006/main">
              <a:ext uri="{FF2B5EF4-FFF2-40B4-BE49-F238E27FC236}">
                <a16:creationId xmlns:a16="http://schemas.microsoft.com/office/drawing/2014/main" id="{BF5BFC49-73CA-406E-A6ED-AB9B5A344595}"/>
              </a:ext>
            </a:extLst>
          </p:cNvPr>
          <p:cNvSpPr>
            <a:spLocks xmlns:a="http://schemas.openxmlformats.org/drawingml/2006/main" noGrp="1"/>
          </p:cNvSpPr>
          <p:nvPr/>
        </p:nvSpPr>
        <p:spPr>
          <a:xfrm xmlns:a="http://schemas.openxmlformats.org/drawingml/2006/main">
            <a:off x="3714750" y="2667000"/>
            <a:ext cx="3667125" cy="10287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8" name="">
            <a:extLst xmlns:a="http://schemas.openxmlformats.org/drawingml/2006/main">
              <a:ext uri="{FF2B5EF4-FFF2-40B4-BE49-F238E27FC236}">
                <a16:creationId xmlns:a16="http://schemas.microsoft.com/office/drawing/2014/main" id="{BC86792E-46B4-4D98-A0C4-DDB955717DEF}"/>
              </a:ext>
            </a:extLst>
          </p:cNvPr>
          <p:cNvSpPr>
            <a:spLocks xmlns:a="http://schemas.openxmlformats.org/drawingml/2006/main" noGrp="1"/>
          </p:cNvSpPr>
          <p:nvPr/>
        </p:nvSpPr>
        <p:spPr>
          <a:xfrm xmlns:a="http://schemas.openxmlformats.org/drawingml/2006/main">
            <a:off x="3886200" y="2781300"/>
            <a:ext cx="33242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EC2: t3.small + Docker</a:t>
            </a:r>
          </a:p>
        </p:txBody>
      </p:sp>
      <p:sp>
        <p:nvSpPr>
          <p:cNvPr id="9" name="">
            <a:extLst xmlns:a="http://schemas.openxmlformats.org/drawingml/2006/main">
              <a:ext uri="{FF2B5EF4-FFF2-40B4-BE49-F238E27FC236}">
                <a16:creationId xmlns:a16="http://schemas.microsoft.com/office/drawing/2014/main" id="{733D3E1B-3755-480B-B402-3D495F35BF12}"/>
              </a:ext>
            </a:extLst>
          </p:cNvPr>
          <p:cNvSpPr>
            <a:spLocks xmlns:a="http://schemas.openxmlformats.org/drawingml/2006/main" noGrp="1"/>
          </p:cNvSpPr>
          <p:nvPr/>
        </p:nvSpPr>
        <p:spPr>
          <a:xfrm xmlns:a="http://schemas.openxmlformats.org/drawingml/2006/main">
            <a:off x="3886200" y="3133725"/>
            <a:ext cx="33242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1 GiB container, 2 CPU limit</a:t>
            </a:r>
          </a:p>
        </p:txBody>
      </p:sp>
      <p:sp>
        <p:nvSpPr>
          <p:cNvPr id="10" name="">
            <a:extLst xmlns:a="http://schemas.openxmlformats.org/drawingml/2006/main">
              <a:ext uri="{FF2B5EF4-FFF2-40B4-BE49-F238E27FC236}">
                <a16:creationId xmlns:a16="http://schemas.microsoft.com/office/drawing/2014/main" id="{F6DC9523-F275-40D4-8B92-2EC667E7BD7A}"/>
              </a:ext>
            </a:extLst>
          </p:cNvPr>
          <p:cNvSpPr>
            <a:spLocks xmlns:a="http://schemas.openxmlformats.org/drawingml/2006/main" noGrp="1"/>
          </p:cNvSpPr>
          <p:nvPr/>
        </p:nvSpPr>
        <p:spPr>
          <a:xfrm xmlns:a="http://schemas.openxmlformats.org/drawingml/2006/main">
            <a:off x="8420100" y="2667000"/>
            <a:ext cx="3143250" cy="1028700"/>
          </a:xfrm>
          <a:prstGeom xmlns:a="http://schemas.openxmlformats.org/drawingml/2006/main" prst="rect">
            <a:avLst/>
          </a:prstGeom>
          <a:solidFill xmlns:a="http://schemas.openxmlformats.org/drawingml/2006/main">
            <a:srgbClr val="E7F3EF"/>
          </a:solidFill>
          <a:ln xmlns:a="http://schemas.openxmlformats.org/drawingml/2006/main" w="9525">
            <a:solidFill>
              <a:srgbClr val="087E70"/>
            </a:solidFill>
          </a:ln>
        </p:spPr>
      </p:sp>
      <p:sp>
        <p:nvSpPr>
          <p:cNvPr id="11" name="">
            <a:extLst xmlns:a="http://schemas.openxmlformats.org/drawingml/2006/main">
              <a:ext uri="{FF2B5EF4-FFF2-40B4-BE49-F238E27FC236}">
                <a16:creationId xmlns:a16="http://schemas.microsoft.com/office/drawing/2014/main" id="{7E1F6EC3-CAAA-4E28-B186-944604481B76}"/>
              </a:ext>
            </a:extLst>
          </p:cNvPr>
          <p:cNvSpPr>
            <a:spLocks xmlns:a="http://schemas.openxmlformats.org/drawingml/2006/main" noGrp="1"/>
          </p:cNvSpPr>
          <p:nvPr/>
        </p:nvSpPr>
        <p:spPr>
          <a:xfrm xmlns:a="http://schemas.openxmlformats.org/drawingml/2006/main">
            <a:off x="8591550" y="2781300"/>
            <a:ext cx="28003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52A32"/>
                </a:solidFill>
                <a:latin typeface="Arial"/>
                <a:ea typeface="Arial"/>
                <a:cs typeface="Arial"/>
              </a:defRPr>
            </a:defPPr>
          </a:lstStyle>
          <a:p xmlns:a="http://schemas.openxmlformats.org/drawingml/2006/main">
            <a:pPr>
              <a:defRPr sz="1725" b="1">
                <a:solidFill>
                  <a:srgbClr val="152A32"/>
                </a:solidFill>
                <a:latin typeface="Arial"/>
                <a:ea typeface="Arial"/>
                <a:cs typeface="Arial"/>
              </a:defRPr>
            </a:pPr>
            <a:r>
              <a:rPr sz="1725" b="1">
                <a:solidFill>
                  <a:srgbClr val="152A32"/>
                </a:solidFill>
                <a:latin typeface="Arial"/>
                <a:ea typeface="Arial"/>
                <a:cs typeface="Arial"/>
              </a:rPr>
              <a:t>Encrypted EBS</a:t>
            </a:r>
          </a:p>
        </p:txBody>
      </p:sp>
      <p:sp>
        <p:nvSpPr>
          <p:cNvPr id="12" name="">
            <a:extLst xmlns:a="http://schemas.openxmlformats.org/drawingml/2006/main">
              <a:ext uri="{FF2B5EF4-FFF2-40B4-BE49-F238E27FC236}">
                <a16:creationId xmlns:a16="http://schemas.microsoft.com/office/drawing/2014/main" id="{63CB8B7A-D65E-4624-9693-DF027CD9EEAE}"/>
              </a:ext>
            </a:extLst>
          </p:cNvPr>
          <p:cNvSpPr>
            <a:spLocks xmlns:a="http://schemas.openxmlformats.org/drawingml/2006/main" noGrp="1"/>
          </p:cNvSpPr>
          <p:nvPr/>
        </p:nvSpPr>
        <p:spPr>
          <a:xfrm xmlns:a="http://schemas.openxmlformats.org/drawingml/2006/main">
            <a:off x="8591550" y="3133725"/>
            <a:ext cx="2800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20 GiB gp2 model cache</a:t>
            </a:r>
          </a:p>
        </p:txBody>
      </p:sp>
      <p:sp>
        <p:nvSpPr>
          <p:cNvPr id="15" name="">
            <a:extLst xmlns:a="http://schemas.openxmlformats.org/drawingml/2006/main">
              <a:ext uri="{FF2B5EF4-FFF2-40B4-BE49-F238E27FC236}">
                <a16:creationId xmlns:a16="http://schemas.microsoft.com/office/drawing/2014/main" id="{7A3AFE19-5EE8-42D2-A51E-906CB5C2A8A6}"/>
              </a:ext>
            </a:extLst>
          </p:cNvPr>
          <p:cNvSpPr>
            <a:spLocks xmlns:a="http://schemas.openxmlformats.org/drawingml/2006/main" noGrp="1"/>
          </p:cNvSpPr>
          <p:nvPr/>
        </p:nvSpPr>
        <p:spPr>
          <a:xfrm xmlns:a="http://schemas.openxmlformats.org/drawingml/2006/main">
            <a:off x="3714750" y="4076700"/>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52A32"/>
                </a:solidFill>
                <a:latin typeface="Arial"/>
                <a:ea typeface="Arial"/>
                <a:cs typeface="Arial"/>
              </a:defRPr>
            </a:defPPr>
          </a:lstStyle>
          <a:p xmlns:a="http://schemas.openxmlformats.org/drawingml/2006/main">
            <a:pPr>
              <a:defRPr sz="2025" b="1">
                <a:solidFill>
                  <a:srgbClr val="152A32"/>
                </a:solidFill>
                <a:latin typeface="Arial"/>
                <a:ea typeface="Arial"/>
                <a:cs typeface="Arial"/>
              </a:defRPr>
            </a:pPr>
            <a:r>
              <a:rPr sz="2025" b="1">
                <a:solidFill>
                  <a:srgbClr val="152A32"/>
                </a:solidFill>
                <a:latin typeface="Arial"/>
                <a:ea typeface="Arial"/>
                <a:cs typeface="Arial"/>
              </a:rPr>
              <a:t>Existing VPC, subnet, route and internet gateway</a:t>
            </a:r>
          </a:p>
        </p:txBody>
      </p:sp>
      <p:sp>
        <p:nvSpPr>
          <p:cNvPr id="16" name="">
            <a:extLst xmlns:a="http://schemas.openxmlformats.org/drawingml/2006/main">
              <a:ext uri="{FF2B5EF4-FFF2-40B4-BE49-F238E27FC236}">
                <a16:creationId xmlns:a16="http://schemas.microsoft.com/office/drawing/2014/main" id="{34072B58-EDCD-4F58-8564-B3DCF044A88E}"/>
              </a:ext>
            </a:extLst>
          </p:cNvPr>
          <p:cNvSpPr>
            <a:spLocks xmlns:a="http://schemas.openxmlformats.org/drawingml/2006/main" noGrp="1"/>
          </p:cNvSpPr>
          <p:nvPr/>
        </p:nvSpPr>
        <p:spPr>
          <a:xfrm xmlns:a="http://schemas.openxmlformats.org/drawingml/2006/main">
            <a:off x="3714750" y="4657725"/>
            <a:ext cx="7810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1636B"/>
                </a:solidFill>
                <a:latin typeface="Arial"/>
                <a:ea typeface="Arial"/>
                <a:cs typeface="Arial"/>
              </a:defRPr>
            </a:defPPr>
          </a:lstStyle>
          <a:p xmlns:a="http://schemas.openxmlformats.org/drawingml/2006/main">
            <a:pPr>
              <a:defRPr sz="1875" b="0">
                <a:solidFill>
                  <a:srgbClr val="51636B"/>
                </a:solidFill>
                <a:latin typeface="Arial"/>
                <a:ea typeface="Arial"/>
                <a:cs typeface="Arial"/>
              </a:defRPr>
            </a:pPr>
            <a:r>
              <a:rPr sz="1875" b="0">
                <a:solidFill>
                  <a:srgbClr val="51636B"/>
                </a:solidFill>
                <a:latin typeface="Arial"/>
                <a:ea typeface="Arial"/>
                <a:cs typeface="Arial"/>
              </a:rPr>
              <a:t>Real inference: HTTP 200, 34 output tokens</a:t>
            </a:r>
          </a:p>
          <a:p xmlns:a="http://schemas.openxmlformats.org/drawingml/2006/main">
            <a:pPr>
              <a:defRPr sz="1875" b="0">
                <a:solidFill>
                  <a:srgbClr val="51636B"/>
                </a:solidFill>
                <a:latin typeface="Arial"/>
                <a:ea typeface="Arial"/>
                <a:cs typeface="Arial"/>
              </a:defRPr>
            </a:pPr>
            <a:r>
              <a:rPr sz="1875" b="0">
                <a:solidFill>
                  <a:srgbClr val="51636B"/>
                </a:solidFill>
                <a:latin typeface="Arial"/>
                <a:ea typeface="Arial"/>
                <a:cs typeface="Arial"/>
              </a:rPr>
              <a:t>One request: 2.30 s client time. Model load: 7.66 s.</a:t>
            </a:r>
          </a:p>
        </p:txBody>
      </p:sp>
      <p:sp>
        <p:nvSpPr>
          <p:cNvPr id="17" name="">
            <a:extLst xmlns:a="http://schemas.openxmlformats.org/drawingml/2006/main">
              <a:ext uri="{FF2B5EF4-FFF2-40B4-BE49-F238E27FC236}">
                <a16:creationId xmlns:a16="http://schemas.microsoft.com/office/drawing/2014/main" id="{2151D40F-3EDB-4C71-9536-D1A4ACB61383}"/>
              </a:ext>
            </a:extLst>
          </p:cNvPr>
          <p:cNvSpPr>
            <a:spLocks xmlns:a="http://schemas.openxmlformats.org/drawingml/2006/main" noGrp="1"/>
          </p:cNvSpPr>
          <p:nvPr/>
        </p:nvSpPr>
        <p:spPr>
          <a:xfrm xmlns:a="http://schemas.openxmlformats.org/drawingml/2006/main">
            <a:off x="609600" y="5829300"/>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B6601E"/>
                </a:solidFill>
                <a:latin typeface="Arial"/>
                <a:ea typeface="Arial"/>
                <a:cs typeface="Arial"/>
              </a:defRPr>
            </a:defPPr>
          </a:lstStyle>
          <a:p xmlns:a="http://schemas.openxmlformats.org/drawingml/2006/main">
            <a:pPr>
              <a:defRPr sz="1800" b="1">
                <a:solidFill>
                  <a:srgbClr val="B6601E"/>
                </a:solidFill>
                <a:latin typeface="Arial"/>
                <a:ea typeface="Arial"/>
                <a:cs typeface="Arial"/>
              </a:defRPr>
            </a:pPr>
            <a:r>
              <a:rPr sz="1800" b="1">
                <a:solidFill>
                  <a:srgbClr val="B6601E"/>
                </a:solidFill>
                <a:latin typeface="Arial"/>
                <a:ea typeface="Arial"/>
                <a:cs typeface="Arial"/>
              </a:rPr>
              <a:t>EKS, ECR, S3 state and GPU nodes remain later milestones</a:t>
            </a:r>
          </a:p>
        </p:txBody>
      </p:sp>
    </p:spTree>
    <p:extLst>
      <p:ext uri="{BB962C8B-B14F-4D97-AF65-F5344CB8AC3E}">
        <p14:creationId xmlns:p14="http://schemas.microsoft.com/office/powerpoint/2010/main" val="19676350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8147E8-2832-4A37-A9A3-9F47910103D8}"/>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Automation and verification</a:t>
            </a:r>
          </a:p>
        </p:txBody>
      </p:sp>
      <p:sp>
        <p:nvSpPr>
          <p:cNvPr id="2" name="">
            <a:extLst xmlns:a="http://schemas.openxmlformats.org/drawingml/2006/main">
              <a:ext uri="{FF2B5EF4-FFF2-40B4-BE49-F238E27FC236}">
                <a16:creationId xmlns:a16="http://schemas.microsoft.com/office/drawing/2014/main" id="{226270D5-32CB-4150-BA92-7BE062AA947D}"/>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5 / 8</a:t>
            </a:r>
          </a:p>
        </p:txBody>
      </p:sp>
      <p:sp>
        <p:nvSpPr>
          <p:cNvPr id="3" name="">
            <a:extLst xmlns:a="http://schemas.openxmlformats.org/drawingml/2006/main">
              <a:ext uri="{FF2B5EF4-FFF2-40B4-BE49-F238E27FC236}">
                <a16:creationId xmlns:a16="http://schemas.microsoft.com/office/drawing/2014/main" id="{2FCCD218-9E9F-49F5-B044-A053D2C815FD}"/>
              </a:ext>
            </a:extLst>
          </p:cNvPr>
          <p:cNvSpPr>
            <a:spLocks xmlns:a="http://schemas.openxmlformats.org/drawingml/2006/main" noGrp="1"/>
          </p:cNvSpPr>
          <p:nvPr/>
        </p:nvSpPr>
        <p:spPr>
          <a:xfrm xmlns:a="http://schemas.openxmlformats.org/drawingml/2006/main">
            <a:off x="609600" y="1809750"/>
            <a:ext cx="3810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7500" b="1">
                <a:solidFill>
                  <a:srgbClr val="087E70"/>
                </a:solidFill>
                <a:latin typeface="Arial"/>
                <a:ea typeface="Arial"/>
                <a:cs typeface="Arial"/>
              </a:defRPr>
            </a:defPPr>
          </a:lstStyle>
          <a:p xmlns:a="http://schemas.openxmlformats.org/drawingml/2006/main">
            <a:pPr>
              <a:defRPr sz="7500" b="1">
                <a:solidFill>
                  <a:srgbClr val="087E70"/>
                </a:solidFill>
                <a:latin typeface="Arial"/>
                <a:ea typeface="Arial"/>
                <a:cs typeface="Arial"/>
              </a:defRPr>
            </a:pPr>
            <a:r>
              <a:rPr sz="7500" b="1">
                <a:solidFill>
                  <a:srgbClr val="087E70"/>
                </a:solidFill>
                <a:latin typeface="Arial"/>
                <a:ea typeface="Arial"/>
                <a:cs typeface="Arial"/>
              </a:rPr>
              <a:t>126</a:t>
            </a:r>
          </a:p>
        </p:txBody>
      </p:sp>
      <p:sp>
        <p:nvSpPr>
          <p:cNvPr id="4" name="">
            <a:extLst xmlns:a="http://schemas.openxmlformats.org/drawingml/2006/main">
              <a:ext uri="{FF2B5EF4-FFF2-40B4-BE49-F238E27FC236}">
                <a16:creationId xmlns:a16="http://schemas.microsoft.com/office/drawing/2014/main" id="{027BBB87-0A95-421D-AC28-A2CDAB695FFC}"/>
              </a:ext>
            </a:extLst>
          </p:cNvPr>
          <p:cNvSpPr>
            <a:spLocks xmlns:a="http://schemas.openxmlformats.org/drawingml/2006/main" noGrp="1"/>
          </p:cNvSpPr>
          <p:nvPr/>
        </p:nvSpPr>
        <p:spPr>
          <a:xfrm xmlns:a="http://schemas.openxmlformats.org/drawingml/2006/main">
            <a:off x="609600" y="3000375"/>
            <a:ext cx="4476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52A32"/>
                </a:solidFill>
                <a:latin typeface="Arial"/>
                <a:ea typeface="Arial"/>
                <a:cs typeface="Arial"/>
              </a:defRPr>
            </a:defPPr>
          </a:lstStyle>
          <a:p xmlns:a="http://schemas.openxmlformats.org/drawingml/2006/main">
            <a:pPr>
              <a:defRPr sz="2250" b="0">
                <a:solidFill>
                  <a:srgbClr val="152A32"/>
                </a:solidFill>
                <a:latin typeface="Arial"/>
                <a:ea typeface="Arial"/>
                <a:cs typeface="Arial"/>
              </a:defRPr>
            </a:pPr>
            <a:r>
              <a:rPr sz="2250" b="0">
                <a:solidFill>
                  <a:srgbClr val="152A32"/>
                </a:solidFill>
                <a:latin typeface="Arial"/>
                <a:ea typeface="Arial"/>
                <a:cs typeface="Arial"/>
              </a:rPr>
              <a:t>Python tests passed in the October 15 audit</a:t>
            </a:r>
          </a:p>
        </p:txBody>
      </p:sp>
      <p:sp>
        <p:nvSpPr>
          <p:cNvPr id="5" name="">
            <a:extLst xmlns:a="http://schemas.openxmlformats.org/drawingml/2006/main">
              <a:ext uri="{FF2B5EF4-FFF2-40B4-BE49-F238E27FC236}">
                <a16:creationId xmlns:a16="http://schemas.microsoft.com/office/drawing/2014/main" id="{3741C5D6-B325-42E1-B2D3-CA81B5BC4927}"/>
              </a:ext>
            </a:extLst>
          </p:cNvPr>
          <p:cNvSpPr>
            <a:spLocks xmlns:a="http://schemas.openxmlformats.org/drawingml/2006/main" noGrp="1"/>
          </p:cNvSpPr>
          <p:nvPr/>
        </p:nvSpPr>
        <p:spPr>
          <a:xfrm xmlns:a="http://schemas.openxmlformats.org/drawingml/2006/main">
            <a:off x="609600" y="42386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1636B"/>
                </a:solidFill>
                <a:latin typeface="Arial"/>
                <a:ea typeface="Arial"/>
                <a:cs typeface="Arial"/>
              </a:defRPr>
            </a:defPPr>
          </a:lstStyle>
          <a:p xmlns:a="http://schemas.openxmlformats.org/drawingml/2006/main">
            <a:pPr>
              <a:defRPr sz="1875" b="0">
                <a:solidFill>
                  <a:srgbClr val="51636B"/>
                </a:solidFill>
                <a:latin typeface="Arial"/>
                <a:ea typeface="Arial"/>
                <a:cs typeface="Arial"/>
              </a:defRPr>
            </a:pPr>
            <a:r>
              <a:rPr sz="1875" b="0">
                <a:solidFill>
                  <a:srgbClr val="51636B"/>
                </a:solidFill>
                <a:latin typeface="Arial"/>
                <a:ea typeface="Arial"/>
                <a:cs typeface="Arial"/>
              </a:rPr>
              <a:t>112 CLI tests + 14 service tests</a:t>
            </a:r>
          </a:p>
        </p:txBody>
      </p:sp>
      <p:sp>
        <p:nvSpPr>
          <p:cNvPr id="6" name="">
            <a:extLst xmlns:a="http://schemas.openxmlformats.org/drawingml/2006/main">
              <a:ext uri="{FF2B5EF4-FFF2-40B4-BE49-F238E27FC236}">
                <a16:creationId xmlns:a16="http://schemas.microsoft.com/office/drawing/2014/main" id="{F339B93B-F52C-4236-AE85-9C281CAA94F2}"/>
              </a:ext>
            </a:extLst>
          </p:cNvPr>
          <p:cNvSpPr>
            <a:spLocks xmlns:a="http://schemas.openxmlformats.org/drawingml/2006/main" noGrp="1"/>
          </p:cNvSpPr>
          <p:nvPr/>
        </p:nvSpPr>
        <p:spPr>
          <a:xfrm xmlns:a="http://schemas.openxmlformats.org/drawingml/2006/main">
            <a:off x="6191250" y="184785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Infrastructure checks</a:t>
            </a:r>
          </a:p>
        </p:txBody>
      </p:sp>
      <p:sp>
        <p:nvSpPr>
          <p:cNvPr id="7" name="">
            <a:extLst xmlns:a="http://schemas.openxmlformats.org/drawingml/2006/main">
              <a:ext uri="{FF2B5EF4-FFF2-40B4-BE49-F238E27FC236}">
                <a16:creationId xmlns:a16="http://schemas.microsoft.com/office/drawing/2014/main" id="{A0A6C549-F990-4143-A6FB-1F033CBC1E56}"/>
              </a:ext>
            </a:extLst>
          </p:cNvPr>
          <p:cNvSpPr>
            <a:spLocks xmlns:a="http://schemas.openxmlformats.org/drawingml/2006/main" noGrp="1"/>
          </p:cNvSpPr>
          <p:nvPr/>
        </p:nvSpPr>
        <p:spPr>
          <a:xfrm xmlns:a="http://schemas.openxmlformats.org/drawingml/2006/main">
            <a:off x="6191250" y="22002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Seven Terraform roots/modules and three mocked safety plans.</a:t>
            </a:r>
          </a:p>
        </p:txBody>
      </p:sp>
      <p:sp>
        <p:nvSpPr>
          <p:cNvPr id="8" name="">
            <a:extLst xmlns:a="http://schemas.openxmlformats.org/drawingml/2006/main">
              <a:ext uri="{FF2B5EF4-FFF2-40B4-BE49-F238E27FC236}">
                <a16:creationId xmlns:a16="http://schemas.microsoft.com/office/drawing/2014/main" id="{679952E4-E20F-4C3A-9E14-3EE4A0072C21}"/>
              </a:ext>
            </a:extLst>
          </p:cNvPr>
          <p:cNvSpPr>
            <a:spLocks xmlns:a="http://schemas.openxmlformats.org/drawingml/2006/main" noGrp="1"/>
          </p:cNvSpPr>
          <p:nvPr/>
        </p:nvSpPr>
        <p:spPr>
          <a:xfrm xmlns:a="http://schemas.openxmlformats.org/drawingml/2006/main">
            <a:off x="6191250" y="308610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Deployment checks</a:t>
            </a:r>
          </a:p>
        </p:txBody>
      </p:sp>
      <p:sp>
        <p:nvSpPr>
          <p:cNvPr id="9" name="">
            <a:extLst xmlns:a="http://schemas.openxmlformats.org/drawingml/2006/main">
              <a:ext uri="{FF2B5EF4-FFF2-40B4-BE49-F238E27FC236}">
                <a16:creationId xmlns:a16="http://schemas.microsoft.com/office/drawing/2014/main" id="{730DF39F-DD99-40C6-89A9-C764B1B1AC4E}"/>
              </a:ext>
            </a:extLst>
          </p:cNvPr>
          <p:cNvSpPr>
            <a:spLocks xmlns:a="http://schemas.openxmlformats.org/drawingml/2006/main" noGrp="1"/>
          </p:cNvSpPr>
          <p:nvPr/>
        </p:nvSpPr>
        <p:spPr>
          <a:xfrm xmlns:a="http://schemas.openxmlformats.org/drawingml/2006/main">
            <a:off x="6191250" y="343852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Helm render checks for built-in, llama.cpp and vLLM configurations.</a:t>
            </a:r>
          </a:p>
        </p:txBody>
      </p:sp>
      <p:sp>
        <p:nvSpPr>
          <p:cNvPr id="10" name="">
            <a:extLst xmlns:a="http://schemas.openxmlformats.org/drawingml/2006/main">
              <a:ext uri="{FF2B5EF4-FFF2-40B4-BE49-F238E27FC236}">
                <a16:creationId xmlns:a16="http://schemas.microsoft.com/office/drawing/2014/main" id="{84E331C6-E163-42A2-9693-2572A30F7414}"/>
              </a:ext>
            </a:extLst>
          </p:cNvPr>
          <p:cNvSpPr>
            <a:spLocks xmlns:a="http://schemas.openxmlformats.org/drawingml/2006/main" noGrp="1"/>
          </p:cNvSpPr>
          <p:nvPr/>
        </p:nvSpPr>
        <p:spPr>
          <a:xfrm xmlns:a="http://schemas.openxmlformats.org/drawingml/2006/main">
            <a:off x="6191250" y="432435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Security and policy</a:t>
            </a:r>
          </a:p>
        </p:txBody>
      </p:sp>
      <p:sp>
        <p:nvSpPr>
          <p:cNvPr id="11" name="">
            <a:extLst xmlns:a="http://schemas.openxmlformats.org/drawingml/2006/main">
              <a:ext uri="{FF2B5EF4-FFF2-40B4-BE49-F238E27FC236}">
                <a16:creationId xmlns:a16="http://schemas.microsoft.com/office/drawing/2014/main" id="{4A712240-802C-4FD0-BD1D-5E5EB6B777AF}"/>
              </a:ext>
            </a:extLst>
          </p:cNvPr>
          <p:cNvSpPr>
            <a:spLocks xmlns:a="http://schemas.openxmlformats.org/drawingml/2006/main" noGrp="1"/>
          </p:cNvSpPr>
          <p:nvPr/>
        </p:nvSpPr>
        <p:spPr>
          <a:xfrm xmlns:a="http://schemas.openxmlformats.org/drawingml/2006/main">
            <a:off x="6191250" y="46767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Conftest suites and image scanning in GitHub Actions.</a:t>
            </a:r>
          </a:p>
        </p:txBody>
      </p:sp>
      <p:sp>
        <p:nvSpPr>
          <p:cNvPr id="12" name="">
            <a:extLst xmlns:a="http://schemas.openxmlformats.org/drawingml/2006/main">
              <a:ext uri="{FF2B5EF4-FFF2-40B4-BE49-F238E27FC236}">
                <a16:creationId xmlns:a16="http://schemas.microsoft.com/office/drawing/2014/main" id="{C26BAC10-E56B-43A9-8A68-D803F5672686}"/>
              </a:ext>
            </a:extLst>
          </p:cNvPr>
          <p:cNvSpPr>
            <a:spLocks xmlns:a="http://schemas.openxmlformats.org/drawingml/2006/main" noGrp="1"/>
          </p:cNvSpPr>
          <p:nvPr/>
        </p:nvSpPr>
        <p:spPr>
          <a:xfrm xmlns:a="http://schemas.openxmlformats.org/drawingml/2006/main">
            <a:off x="609600" y="58578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087E70"/>
                </a:solidFill>
                <a:latin typeface="Arial"/>
                <a:ea typeface="Arial"/>
                <a:cs typeface="Arial"/>
              </a:defRPr>
            </a:defPPr>
          </a:lstStyle>
          <a:p xmlns:a="http://schemas.openxmlformats.org/drawingml/2006/main">
            <a:pPr>
              <a:defRPr sz="1575" b="0">
                <a:solidFill>
                  <a:srgbClr val="087E70"/>
                </a:solidFill>
                <a:latin typeface="Arial"/>
                <a:ea typeface="Arial"/>
                <a:cs typeface="Arial"/>
              </a:defRPr>
            </a:pPr>
            <a:r>
              <a:rPr sz="1575" b="0">
                <a:solidFill>
                  <a:srgbClr val="087E70"/>
                </a:solidFill>
                <a:latin typeface="Arial"/>
                <a:ea typeface="Arial"/>
                <a:cs typeface="Arial"/>
              </a:rPr>
              <a:t>Local checks and all seven CI jobs passed after the zone-selection repair.</a:t>
            </a:r>
          </a:p>
        </p:txBody>
      </p:sp>
    </p:spTree>
    <p:extLst>
      <p:ext uri="{BB962C8B-B14F-4D97-AF65-F5344CB8AC3E}">
        <p14:creationId xmlns:p14="http://schemas.microsoft.com/office/powerpoint/2010/main" val="101257179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BDA016-9CBC-4FEE-A2D5-CA1F02EF4FAC}"/>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Measured prototype performance</a:t>
            </a:r>
          </a:p>
        </p:txBody>
      </p:sp>
      <p:sp>
        <p:nvSpPr>
          <p:cNvPr id="2" name="">
            <a:extLst xmlns:a="http://schemas.openxmlformats.org/drawingml/2006/main">
              <a:ext uri="{FF2B5EF4-FFF2-40B4-BE49-F238E27FC236}">
                <a16:creationId xmlns:a16="http://schemas.microsoft.com/office/drawing/2014/main" id="{B405C632-AB1F-4295-8734-DF65D6690F60}"/>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6 / 8</a:t>
            </a:r>
          </a:p>
        </p:txBody>
      </p:sp>
      <p:sp>
        <p:nvSpPr>
          <p:cNvPr id="3" name="">
            <a:extLst xmlns:a="http://schemas.openxmlformats.org/drawingml/2006/main">
              <a:ext uri="{FF2B5EF4-FFF2-40B4-BE49-F238E27FC236}">
                <a16:creationId xmlns:a16="http://schemas.microsoft.com/office/drawing/2014/main" id="{AE901053-7EE5-4333-B31A-54F39071FBB6}"/>
              </a:ext>
            </a:extLst>
          </p:cNvPr>
          <p:cNvSpPr>
            <a:spLocks xmlns:a="http://schemas.openxmlformats.org/drawingml/2006/main" noGrp="1"/>
          </p:cNvSpPr>
          <p:nvPr/>
        </p:nvSpPr>
        <p:spPr>
          <a:xfrm xmlns:a="http://schemas.openxmlformats.org/drawingml/2006/main">
            <a:off x="609600" y="16192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1636B"/>
                </a:solidFill>
                <a:latin typeface="Arial"/>
                <a:ea typeface="Arial"/>
                <a:cs typeface="Arial"/>
              </a:defRPr>
            </a:defPPr>
          </a:lstStyle>
          <a:p xmlns:a="http://schemas.openxmlformats.org/drawingml/2006/main">
            <a:pPr>
              <a:defRPr sz="2100" b="0">
                <a:solidFill>
                  <a:srgbClr val="51636B"/>
                </a:solidFill>
                <a:latin typeface="Arial"/>
                <a:ea typeface="Arial"/>
                <a:cs typeface="Arial"/>
              </a:defRPr>
            </a:pPr>
            <a:r>
              <a:rPr sz="2100" b="0">
                <a:solidFill>
                  <a:srgbClr val="51636B"/>
                </a:solidFill>
                <a:latin typeface="Arial"/>
                <a:ea typeface="Arial"/>
                <a:cs typeface="Arial"/>
              </a:rPr>
              <a:t>Completion tokens per second at one virtual user</a:t>
            </a:r>
          </a:p>
        </p:txBody>
      </p:sp>
      <p:graphicFrame>
        <p:nvGraphicFramePr>
          <p:cNvPr id="4" name="Chart">
            <a:extLst xmlns:a="http://schemas.openxmlformats.org/drawingml/2006/main">
              <a:ext uri="{FF2B5EF4-FFF2-40B4-BE49-F238E27FC236}">
                <a16:creationId xmlns:a16="http://schemas.microsoft.com/office/drawing/2014/main" id="{C21FF4EC-137E-4AD1-8BF5-53143A23A73E}"/>
              </a:ext>
            </a:extLst>
          </p:cNvPr>
          <p:cNvGraphicFramePr/>
          <p:nvPr/>
        </p:nvGraphicFramePr>
        <p:xfrm>
          <a:off xmlns:a="http://schemas.openxmlformats.org/drawingml/2006/main" x="609600" y="2362200"/>
          <a:ext xmlns:a="http://schemas.openxmlformats.org/drawingml/2006/main" cx="6762750" cy="2905125"/>
        </p:xfrm>
        <a:graphic xmlns:a="http://schemas.openxmlformats.org/drawingml/2006/main">
          <a:graphicData uri="http://schemas.openxmlformats.org/drawingml/2006/chart">
            <c:chart xmlns:r="http://schemas.openxmlformats.org/officeDocument/2006/relationships" xmlns:c="http://schemas.openxmlformats.org/drawingml/2006/chart" r:id="Re679224fc01847e6"/>
          </a:graphicData>
        </a:graphic>
      </p:graphicFrame>
      <p:sp>
        <p:nvSpPr>
          <p:cNvPr id="5" name="">
            <a:extLst xmlns:a="http://schemas.openxmlformats.org/drawingml/2006/main">
              <a:ext uri="{FF2B5EF4-FFF2-40B4-BE49-F238E27FC236}">
                <a16:creationId xmlns:a16="http://schemas.microsoft.com/office/drawing/2014/main" id="{DABA3FDC-F58F-4CA7-A4E5-49EF5B72B4DF}"/>
              </a:ext>
            </a:extLst>
          </p:cNvPr>
          <p:cNvSpPr>
            <a:spLocks xmlns:a="http://schemas.openxmlformats.org/drawingml/2006/main" noGrp="1"/>
          </p:cNvSpPr>
          <p:nvPr/>
        </p:nvSpPr>
        <p:spPr>
          <a:xfrm xmlns:a="http://schemas.openxmlformats.org/drawingml/2006/main">
            <a:off x="8020050" y="247650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0.80 s</a:t>
            </a:r>
          </a:p>
        </p:txBody>
      </p:sp>
      <p:sp>
        <p:nvSpPr>
          <p:cNvPr id="6" name="">
            <a:extLst xmlns:a="http://schemas.openxmlformats.org/drawingml/2006/main">
              <a:ext uri="{FF2B5EF4-FFF2-40B4-BE49-F238E27FC236}">
                <a16:creationId xmlns:a16="http://schemas.microsoft.com/office/drawing/2014/main" id="{BC274D03-320E-454C-AC6A-6B487F4BB63C}"/>
              </a:ext>
            </a:extLst>
          </p:cNvPr>
          <p:cNvSpPr>
            <a:spLocks xmlns:a="http://schemas.openxmlformats.org/drawingml/2006/main" noGrp="1"/>
          </p:cNvSpPr>
          <p:nvPr/>
        </p:nvSpPr>
        <p:spPr>
          <a:xfrm xmlns:a="http://schemas.openxmlformats.org/drawingml/2006/main">
            <a:off x="8020050" y="28289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Upstream llama.cpp P95 latency</a:t>
            </a:r>
          </a:p>
        </p:txBody>
      </p:sp>
      <p:sp>
        <p:nvSpPr>
          <p:cNvPr id="7" name="">
            <a:extLst xmlns:a="http://schemas.openxmlformats.org/drawingml/2006/main">
              <a:ext uri="{FF2B5EF4-FFF2-40B4-BE49-F238E27FC236}">
                <a16:creationId xmlns:a16="http://schemas.microsoft.com/office/drawing/2014/main" id="{0EFA6FCE-A5B0-47BD-A721-B03F8AA74A69}"/>
              </a:ext>
            </a:extLst>
          </p:cNvPr>
          <p:cNvSpPr>
            <a:spLocks xmlns:a="http://schemas.openxmlformats.org/drawingml/2006/main" noGrp="1"/>
          </p:cNvSpPr>
          <p:nvPr/>
        </p:nvSpPr>
        <p:spPr>
          <a:xfrm xmlns:a="http://schemas.openxmlformats.org/drawingml/2006/main">
            <a:off x="8020050" y="3781425"/>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087E70"/>
                </a:solidFill>
                <a:latin typeface="Arial"/>
                <a:ea typeface="Arial"/>
                <a:cs typeface="Arial"/>
              </a:defRPr>
            </a:defPPr>
          </a:lstStyle>
          <a:p xmlns:a="http://schemas.openxmlformats.org/drawingml/2006/main">
            <a:pPr>
              <a:defRPr sz="2025" b="1">
                <a:solidFill>
                  <a:srgbClr val="087E70"/>
                </a:solidFill>
                <a:latin typeface="Arial"/>
                <a:ea typeface="Arial"/>
                <a:cs typeface="Arial"/>
              </a:defRPr>
            </a:pPr>
            <a:r>
              <a:rPr sz="2025" b="1">
                <a:solidFill>
                  <a:srgbClr val="087E70"/>
                </a:solidFill>
                <a:latin typeface="Arial"/>
                <a:ea typeface="Arial"/>
                <a:cs typeface="Arial"/>
              </a:rPr>
              <a:t>12.5 s</a:t>
            </a:r>
          </a:p>
        </p:txBody>
      </p:sp>
      <p:sp>
        <p:nvSpPr>
          <p:cNvPr id="8" name="">
            <a:extLst xmlns:a="http://schemas.openxmlformats.org/drawingml/2006/main">
              <a:ext uri="{FF2B5EF4-FFF2-40B4-BE49-F238E27FC236}">
                <a16:creationId xmlns:a16="http://schemas.microsoft.com/office/drawing/2014/main" id="{DF05DE58-5A66-45E7-AC6C-BC38895191B0}"/>
              </a:ext>
            </a:extLst>
          </p:cNvPr>
          <p:cNvSpPr>
            <a:spLocks xmlns:a="http://schemas.openxmlformats.org/drawingml/2006/main" noGrp="1"/>
          </p:cNvSpPr>
          <p:nvPr/>
        </p:nvSpPr>
        <p:spPr>
          <a:xfrm xmlns:a="http://schemas.openxmlformats.org/drawingml/2006/main">
            <a:off x="8020050" y="41338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1636B"/>
                </a:solidFill>
                <a:latin typeface="Arial"/>
                <a:ea typeface="Arial"/>
                <a:cs typeface="Arial"/>
              </a:defRPr>
            </a:defPPr>
          </a:lstStyle>
          <a:p xmlns:a="http://schemas.openxmlformats.org/drawingml/2006/main">
            <a:pPr>
              <a:defRPr sz="1650" b="0">
                <a:solidFill>
                  <a:srgbClr val="51636B"/>
                </a:solidFill>
                <a:latin typeface="Arial"/>
                <a:ea typeface="Arial"/>
                <a:cs typeface="Arial"/>
              </a:defRPr>
            </a:pPr>
            <a:r>
              <a:rPr sz="1650" b="0">
                <a:solidFill>
                  <a:srgbClr val="51636B"/>
                </a:solidFill>
                <a:latin typeface="Arial"/>
                <a:ea typeface="Arial"/>
                <a:cs typeface="Arial"/>
              </a:rPr>
              <a:t>Endpoint recovery after a pod kill</a:t>
            </a:r>
          </a:p>
        </p:txBody>
      </p:sp>
      <p:sp>
        <p:nvSpPr>
          <p:cNvPr id="9" name="">
            <a:extLst xmlns:a="http://schemas.openxmlformats.org/drawingml/2006/main">
              <a:ext uri="{FF2B5EF4-FFF2-40B4-BE49-F238E27FC236}">
                <a16:creationId xmlns:a16="http://schemas.microsoft.com/office/drawing/2014/main" id="{AC67FAF9-8056-486C-8B02-7ACDC52D8925}"/>
              </a:ext>
            </a:extLst>
          </p:cNvPr>
          <p:cNvSpPr>
            <a:spLocks xmlns:a="http://schemas.openxmlformats.org/drawingml/2006/main" noGrp="1"/>
          </p:cNvSpPr>
          <p:nvPr/>
        </p:nvSpPr>
        <p:spPr>
          <a:xfrm xmlns:a="http://schemas.openxmlformats.org/drawingml/2006/main">
            <a:off x="609600" y="56673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1636B"/>
                </a:solidFill>
                <a:latin typeface="Arial"/>
                <a:ea typeface="Arial"/>
                <a:cs typeface="Arial"/>
              </a:defRPr>
            </a:defPPr>
          </a:lstStyle>
          <a:p xmlns:a="http://schemas.openxmlformats.org/drawingml/2006/main">
            <a:pPr>
              <a:defRPr sz="1575" b="0">
                <a:solidFill>
                  <a:srgbClr val="51636B"/>
                </a:solidFill>
                <a:latin typeface="Arial"/>
                <a:ea typeface="Arial"/>
                <a:cs typeface="Arial"/>
              </a:defRPr>
            </a:pPr>
            <a:r>
              <a:rPr sz="1575" b="0">
                <a:solidFill>
                  <a:srgbClr val="51636B"/>
                </a:solidFill>
                <a:latin typeface="Arial"/>
                <a:ea typeface="Arial"/>
                <a:cs typeface="Arial"/>
              </a:rPr>
              <a:t>Historical local runs, September 16, 2026. Qwen 0.5B, 2 CPU threads, 32 output tokens.</a:t>
            </a:r>
          </a:p>
        </p:txBody>
      </p:sp>
      <p:sp>
        <p:nvSpPr>
          <p:cNvPr id="10" name="">
            <a:extLst xmlns:a="http://schemas.openxmlformats.org/drawingml/2006/main">
              <a:ext uri="{FF2B5EF4-FFF2-40B4-BE49-F238E27FC236}">
                <a16:creationId xmlns:a16="http://schemas.microsoft.com/office/drawing/2014/main" id="{1538A680-ED77-46A5-805B-A29EA82FB8AA}"/>
              </a:ext>
            </a:extLst>
          </p:cNvPr>
          <p:cNvSpPr>
            <a:spLocks xmlns:a="http://schemas.openxmlformats.org/drawingml/2006/main" noGrp="1"/>
          </p:cNvSpPr>
          <p:nvPr/>
        </p:nvSpPr>
        <p:spPr>
          <a:xfrm xmlns:a="http://schemas.openxmlformats.org/drawingml/2006/main">
            <a:off x="609600" y="61245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1636B"/>
                </a:solidFill>
                <a:latin typeface="Arial"/>
                <a:ea typeface="Arial"/>
                <a:cs typeface="Arial"/>
              </a:defRPr>
            </a:defPPr>
          </a:lstStyle>
          <a:p xmlns:a="http://schemas.openxmlformats.org/drawingml/2006/main">
            <a:pPr>
              <a:defRPr sz="1425" b="0">
                <a:solidFill>
                  <a:srgbClr val="51636B"/>
                </a:solidFill>
                <a:latin typeface="Arial"/>
                <a:ea typeface="Arial"/>
                <a:cs typeface="Arial"/>
              </a:defRPr>
            </a:pPr>
            <a:r>
              <a:rPr sz="1425" b="0">
                <a:solidFill>
                  <a:srgbClr val="51636B"/>
                </a:solidFill>
                <a:latin typeface="Arial"/>
                <a:ea typeface="Arial"/>
                <a:cs typeface="Arial"/>
              </a:rPr>
              <a:t>Engine builds differ. These results are not AWS benchmarks or production guarantees.</a:t>
            </a:r>
          </a:p>
        </p:txBody>
      </p:sp>
    </p:spTree>
    <p:extLst>
      <p:ext uri="{BB962C8B-B14F-4D97-AF65-F5344CB8AC3E}">
        <p14:creationId xmlns:p14="http://schemas.microsoft.com/office/powerpoint/2010/main" val="191533016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55CFF9-B3C9-49F7-B4C4-6B7D7C61A34C}"/>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52A32"/>
                </a:solidFill>
                <a:latin typeface="Arial"/>
                <a:ea typeface="Arial"/>
                <a:cs typeface="Arial"/>
              </a:defRPr>
            </a:defPPr>
          </a:lstStyle>
          <a:p xmlns:a="http://schemas.openxmlformats.org/drawingml/2006/main">
            <a:pPr>
              <a:defRPr sz="3300" b="1">
                <a:solidFill>
                  <a:srgbClr val="152A32"/>
                </a:solidFill>
                <a:latin typeface="Arial"/>
                <a:ea typeface="Arial"/>
                <a:cs typeface="Arial"/>
              </a:defRPr>
            </a:pPr>
            <a:r>
              <a:rPr sz="3300" b="1">
                <a:solidFill>
                  <a:srgbClr val="152A32"/>
                </a:solidFill>
                <a:latin typeface="Arial"/>
                <a:ea typeface="Arial"/>
                <a:cs typeface="Arial"/>
              </a:rPr>
              <a:t>Challenges and remaining work</a:t>
            </a:r>
          </a:p>
        </p:txBody>
      </p:sp>
      <p:sp>
        <p:nvSpPr>
          <p:cNvPr id="2" name="">
            <a:extLst xmlns:a="http://schemas.openxmlformats.org/drawingml/2006/main">
              <a:ext uri="{FF2B5EF4-FFF2-40B4-BE49-F238E27FC236}">
                <a16:creationId xmlns:a16="http://schemas.microsoft.com/office/drawing/2014/main" id="{A891D7D8-8DE8-4FA2-AD87-EBCB9837BE9D}"/>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1636B"/>
                </a:solidFill>
                <a:latin typeface="Arial"/>
                <a:ea typeface="Arial"/>
                <a:cs typeface="Arial"/>
              </a:defRPr>
            </a:defPPr>
          </a:lstStyle>
          <a:p xmlns:a="http://schemas.openxmlformats.org/drawingml/2006/main">
            <a:pPr>
              <a:defRPr sz="1200" b="0">
                <a:solidFill>
                  <a:srgbClr val="51636B"/>
                </a:solidFill>
                <a:latin typeface="Arial"/>
                <a:ea typeface="Arial"/>
                <a:cs typeface="Arial"/>
              </a:defRPr>
            </a:pPr>
            <a:r>
              <a:rPr sz="1200" b="0">
                <a:solidFill>
                  <a:srgbClr val="51636B"/>
                </a:solidFill>
                <a:latin typeface="Arial"/>
                <a:ea typeface="Arial"/>
                <a:cs typeface="Arial"/>
              </a:rPr>
              <a:t>7 / 8</a:t>
            </a:r>
          </a:p>
        </p:txBody>
      </p:sp>
      <p:sp>
        <p:nvSpPr>
          <p:cNvPr id="3" name="">
            <a:extLst xmlns:a="http://schemas.openxmlformats.org/drawingml/2006/main">
              <a:ext uri="{FF2B5EF4-FFF2-40B4-BE49-F238E27FC236}">
                <a16:creationId xmlns:a16="http://schemas.microsoft.com/office/drawing/2014/main" id="{8047E4C2-5ED2-4B1A-BC6E-65BBB7B9C492}"/>
              </a:ext>
            </a:extLst>
          </p:cNvPr>
          <p:cNvSpPr>
            <a:spLocks xmlns:a="http://schemas.openxmlformats.org/drawingml/2006/main" noGrp="1"/>
          </p:cNvSpPr>
          <p:nvPr/>
        </p:nvSpPr>
        <p:spPr>
          <a:xfrm xmlns:a="http://schemas.openxmlformats.org/drawingml/2006/main">
            <a:off x="609600" y="171450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70"/>
                </a:solidFill>
                <a:latin typeface="Arial"/>
                <a:ea typeface="Arial"/>
                <a:cs typeface="Arial"/>
              </a:defRPr>
            </a:defPPr>
          </a:lstStyle>
          <a:p xmlns:a="http://schemas.openxmlformats.org/drawingml/2006/main">
            <a:pPr>
              <a:defRPr sz="2175" b="1">
                <a:solidFill>
                  <a:srgbClr val="087E70"/>
                </a:solidFill>
                <a:latin typeface="Arial"/>
                <a:ea typeface="Arial"/>
                <a:cs typeface="Arial"/>
              </a:defRPr>
            </a:pPr>
            <a:r>
              <a:rPr sz="2175" b="1">
                <a:solidFill>
                  <a:srgbClr val="087E70"/>
                </a:solidFill>
                <a:latin typeface="Arial"/>
                <a:ea typeface="Arial"/>
                <a:cs typeface="Arial"/>
              </a:rPr>
              <a:t>Challenge</a:t>
            </a:r>
          </a:p>
        </p:txBody>
      </p:sp>
      <p:sp>
        <p:nvSpPr>
          <p:cNvPr id="4" name="">
            <a:extLst xmlns:a="http://schemas.openxmlformats.org/drawingml/2006/main">
              <a:ext uri="{FF2B5EF4-FFF2-40B4-BE49-F238E27FC236}">
                <a16:creationId xmlns:a16="http://schemas.microsoft.com/office/drawing/2014/main" id="{8CB030AF-DB7C-46CC-BA6F-5886A6CF21CA}"/>
              </a:ext>
            </a:extLst>
          </p:cNvPr>
          <p:cNvSpPr>
            <a:spLocks xmlns:a="http://schemas.openxmlformats.org/drawingml/2006/main" noGrp="1"/>
          </p:cNvSpPr>
          <p:nvPr/>
        </p:nvSpPr>
        <p:spPr>
          <a:xfrm xmlns:a="http://schemas.openxmlformats.org/drawingml/2006/main">
            <a:off x="5810250" y="171450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70"/>
                </a:solidFill>
                <a:latin typeface="Arial"/>
                <a:ea typeface="Arial"/>
                <a:cs typeface="Arial"/>
              </a:defRPr>
            </a:defPPr>
          </a:lstStyle>
          <a:p xmlns:a="http://schemas.openxmlformats.org/drawingml/2006/main">
            <a:pPr>
              <a:defRPr sz="2175" b="1">
                <a:solidFill>
                  <a:srgbClr val="087E70"/>
                </a:solidFill>
                <a:latin typeface="Arial"/>
                <a:ea typeface="Arial"/>
                <a:cs typeface="Arial"/>
              </a:defRPr>
            </a:pPr>
            <a:r>
              <a:rPr sz="2175" b="1">
                <a:solidFill>
                  <a:srgbClr val="087E70"/>
                </a:solidFill>
                <a:latin typeface="Arial"/>
                <a:ea typeface="Arial"/>
                <a:cs typeface="Arial"/>
              </a:rPr>
              <a:t>Response and next milestone</a:t>
            </a:r>
          </a:p>
        </p:txBody>
      </p:sp>
      <p:sp>
        <p:nvSpPr>
          <p:cNvPr id="5" name="">
            <a:extLst xmlns:a="http://schemas.openxmlformats.org/drawingml/2006/main">
              <a:ext uri="{FF2B5EF4-FFF2-40B4-BE49-F238E27FC236}">
                <a16:creationId xmlns:a16="http://schemas.microsoft.com/office/drawing/2014/main" id="{8693E144-F8E7-4C3B-BB69-8888163C0B30}"/>
              </a:ext>
            </a:extLst>
          </p:cNvPr>
          <p:cNvSpPr>
            <a:spLocks xmlns:a="http://schemas.openxmlformats.org/drawingml/2006/main" noGrp="1"/>
          </p:cNvSpPr>
          <p:nvPr/>
        </p:nvSpPr>
        <p:spPr>
          <a:xfrm xmlns:a="http://schemas.openxmlformats.org/drawingml/2006/main">
            <a:off x="609600" y="238125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Laptop memory and CPU pressure</a:t>
            </a:r>
          </a:p>
        </p:txBody>
      </p:sp>
      <p:sp>
        <p:nvSpPr>
          <p:cNvPr id="6" name="">
            <a:extLst xmlns:a="http://schemas.openxmlformats.org/drawingml/2006/main">
              <a:ext uri="{FF2B5EF4-FFF2-40B4-BE49-F238E27FC236}">
                <a16:creationId xmlns:a16="http://schemas.microsoft.com/office/drawing/2014/main" id="{8A690868-01D2-4221-85AC-589CD8E4CAF2}"/>
              </a:ext>
            </a:extLst>
          </p:cNvPr>
          <p:cNvSpPr>
            <a:spLocks xmlns:a="http://schemas.openxmlformats.org/drawingml/2006/main" noGrp="1"/>
          </p:cNvSpPr>
          <p:nvPr/>
        </p:nvSpPr>
        <p:spPr>
          <a:xfrm xmlns:a="http://schemas.openxmlformats.org/drawingml/2006/main">
            <a:off x="5810250" y="238125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One workload at a time, pre-pulled images, paused add-ons.</a:t>
            </a:r>
          </a:p>
        </p:txBody>
      </p:sp>
      <p:sp>
        <p:nvSpPr>
          <p:cNvPr id="7" name="">
            <a:extLst xmlns:a="http://schemas.openxmlformats.org/drawingml/2006/main">
              <a:ext uri="{FF2B5EF4-FFF2-40B4-BE49-F238E27FC236}">
                <a16:creationId xmlns:a16="http://schemas.microsoft.com/office/drawing/2014/main" id="{CFF34242-4105-4863-B7F2-F656DB875BF7}"/>
              </a:ext>
            </a:extLst>
          </p:cNvPr>
          <p:cNvSpPr>
            <a:spLocks xmlns:a="http://schemas.openxmlformats.org/drawingml/2006/main" noGrp="1"/>
          </p:cNvSpPr>
          <p:nvPr/>
        </p:nvSpPr>
        <p:spPr>
          <a:xfrm xmlns:a="http://schemas.openxmlformats.org/drawingml/2006/main">
            <a:off x="609600" y="316230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Academy service and IAM restrictions</a:t>
            </a:r>
          </a:p>
        </p:txBody>
      </p:sp>
      <p:sp>
        <p:nvSpPr>
          <p:cNvPr id="8" name="">
            <a:extLst xmlns:a="http://schemas.openxmlformats.org/drawingml/2006/main">
              <a:ext uri="{FF2B5EF4-FFF2-40B4-BE49-F238E27FC236}">
                <a16:creationId xmlns:a16="http://schemas.microsoft.com/office/drawing/2014/main" id="{693A98B2-AB53-4E54-A7AF-5E7EB92F69A9}"/>
              </a:ext>
            </a:extLst>
          </p:cNvPr>
          <p:cNvSpPr>
            <a:spLocks xmlns:a="http://schemas.openxmlformats.org/drawingml/2006/main" noGrp="1"/>
          </p:cNvSpPr>
          <p:nvPr/>
        </p:nvSpPr>
        <p:spPr>
          <a:xfrm xmlns:a="http://schemas.openxmlformats.org/drawingml/2006/main">
            <a:off x="5810250" y="316230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Verified EC2 first. EKS needs a permitted account and budget.</a:t>
            </a:r>
          </a:p>
        </p:txBody>
      </p:sp>
      <p:sp>
        <p:nvSpPr>
          <p:cNvPr id="9" name="">
            <a:extLst xmlns:a="http://schemas.openxmlformats.org/drawingml/2006/main">
              <a:ext uri="{FF2B5EF4-FFF2-40B4-BE49-F238E27FC236}">
                <a16:creationId xmlns:a16="http://schemas.microsoft.com/office/drawing/2014/main" id="{557047AA-EE49-45BB-BF19-E9364CB3CEB6}"/>
              </a:ext>
            </a:extLst>
          </p:cNvPr>
          <p:cNvSpPr>
            <a:spLocks xmlns:a="http://schemas.openxmlformats.org/drawingml/2006/main" noGrp="1"/>
          </p:cNvSpPr>
          <p:nvPr/>
        </p:nvSpPr>
        <p:spPr>
          <a:xfrm xmlns:a="http://schemas.openxmlformats.org/drawingml/2006/main">
            <a:off x="609600" y="394335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Ingress monitoring blind spot</a:t>
            </a:r>
          </a:p>
        </p:txBody>
      </p:sp>
      <p:sp>
        <p:nvSpPr>
          <p:cNvPr id="10" name="">
            <a:extLst xmlns:a="http://schemas.openxmlformats.org/drawingml/2006/main">
              <a:ext uri="{FF2B5EF4-FFF2-40B4-BE49-F238E27FC236}">
                <a16:creationId xmlns:a16="http://schemas.microsoft.com/office/drawing/2014/main" id="{0D3EB51C-17F9-4CB8-A2D0-E83F5F89CE02}"/>
              </a:ext>
            </a:extLst>
          </p:cNvPr>
          <p:cNvSpPr>
            <a:spLocks xmlns:a="http://schemas.openxmlformats.org/drawingml/2006/main" noGrp="1"/>
          </p:cNvSpPr>
          <p:nvPr/>
        </p:nvSpPr>
        <p:spPr>
          <a:xfrm xmlns:a="http://schemas.openxmlformats.org/drawingml/2006/main">
            <a:off x="5810250" y="394335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Add an external probe and retest recovery in AWS.</a:t>
            </a:r>
          </a:p>
        </p:txBody>
      </p:sp>
      <p:sp>
        <p:nvSpPr>
          <p:cNvPr id="11" name="">
            <a:extLst xmlns:a="http://schemas.openxmlformats.org/drawingml/2006/main">
              <a:ext uri="{FF2B5EF4-FFF2-40B4-BE49-F238E27FC236}">
                <a16:creationId xmlns:a16="http://schemas.microsoft.com/office/drawing/2014/main" id="{C7A8EC53-EE16-4C68-923D-A23C629F9683}"/>
              </a:ext>
            </a:extLst>
          </p:cNvPr>
          <p:cNvSpPr>
            <a:spLocks xmlns:a="http://schemas.openxmlformats.org/drawingml/2006/main" noGrp="1"/>
          </p:cNvSpPr>
          <p:nvPr/>
        </p:nvSpPr>
        <p:spPr>
          <a:xfrm xmlns:a="http://schemas.openxmlformats.org/drawingml/2006/main">
            <a:off x="609600" y="4724400"/>
            <a:ext cx="4572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A32"/>
                </a:solidFill>
                <a:latin typeface="Arial"/>
                <a:ea typeface="Arial"/>
                <a:cs typeface="Arial"/>
              </a:defRPr>
            </a:defPPr>
          </a:lstStyle>
          <a:p xmlns:a="http://schemas.openxmlformats.org/drawingml/2006/main">
            <a:pPr>
              <a:defRPr sz="1875" b="0">
                <a:solidFill>
                  <a:srgbClr val="152A32"/>
                </a:solidFill>
                <a:latin typeface="Arial"/>
                <a:ea typeface="Arial"/>
                <a:cs typeface="Arial"/>
              </a:defRPr>
            </a:pPr>
            <a:r>
              <a:rPr sz="1875" b="0">
                <a:solidFill>
                  <a:srgbClr val="152A32"/>
                </a:solidFill>
                <a:latin typeface="Arial"/>
                <a:ea typeface="Arial"/>
                <a:cs typeface="Arial"/>
              </a:rPr>
              <a:t>Unverified advanced paths</a:t>
            </a:r>
          </a:p>
        </p:txBody>
      </p:sp>
      <p:sp>
        <p:nvSpPr>
          <p:cNvPr id="12" name="">
            <a:extLst xmlns:a="http://schemas.openxmlformats.org/drawingml/2006/main">
              <a:ext uri="{FF2B5EF4-FFF2-40B4-BE49-F238E27FC236}">
                <a16:creationId xmlns:a16="http://schemas.microsoft.com/office/drawing/2014/main" id="{F441A6B8-D9EA-4401-AF3D-96FE553B885E}"/>
              </a:ext>
            </a:extLst>
          </p:cNvPr>
          <p:cNvSpPr>
            <a:spLocks xmlns:a="http://schemas.openxmlformats.org/drawingml/2006/main" noGrp="1"/>
          </p:cNvSpPr>
          <p:nvPr/>
        </p:nvSpPr>
        <p:spPr>
          <a:xfrm xmlns:a="http://schemas.openxmlformats.org/drawingml/2006/main">
            <a:off x="5810250" y="4724400"/>
            <a:ext cx="571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1636B"/>
                </a:solidFill>
                <a:latin typeface="Arial"/>
                <a:ea typeface="Arial"/>
                <a:cs typeface="Arial"/>
              </a:defRPr>
            </a:defPPr>
          </a:lstStyle>
          <a:p xmlns:a="http://schemas.openxmlformats.org/drawingml/2006/main">
            <a:pPr>
              <a:defRPr sz="1800" b="0">
                <a:solidFill>
                  <a:srgbClr val="51636B"/>
                </a:solidFill>
                <a:latin typeface="Arial"/>
                <a:ea typeface="Arial"/>
                <a:cs typeface="Arial"/>
              </a:defRPr>
            </a:pPr>
            <a:r>
              <a:rPr sz="1800" b="0">
                <a:solidFill>
                  <a:srgbClr val="51636B"/>
                </a:solidFill>
                <a:latin typeface="Arial"/>
                <a:ea typeface="Arial"/>
                <a:cs typeface="Arial"/>
              </a:rPr>
              <a:t>Test GPU serving and a live proposal provider after midpoint.</a:t>
            </a:r>
          </a:p>
        </p:txBody>
      </p:sp>
    </p:spTree>
    <p:extLst>
      <p:ext uri="{BB962C8B-B14F-4D97-AF65-F5344CB8AC3E}">
        <p14:creationId xmlns:p14="http://schemas.microsoft.com/office/powerpoint/2010/main" val="1033907175"/>
      </p:ext>
    </p:extLst>
  </p:cSld>
</p:sld>
</file>

<file path=ppt/slides/slide8.xml><?xml version="1.0" encoding="utf-8"?>
<p:sld xmlns:p="http://schemas.openxmlformats.org/presentationml/2006/main">
  <p:cSld>
    <p:bg>
      <p:bgPr>
        <a:solidFill xmlns:a="http://schemas.openxmlformats.org/drawingml/2006/main">
          <a:srgbClr val="152A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04C703D-9918-4A23-85A1-39F313C2537D}"/>
              </a:ext>
            </a:extLst>
          </p:cNvPr>
          <p:cNvSpPr>
            <a:spLocks xmlns:a="http://schemas.openxmlformats.org/drawingml/2006/main" noGrp="1"/>
          </p:cNvSpPr>
          <p:nvPr/>
        </p:nvSpPr>
        <p:spPr>
          <a:xfrm xmlns:a="http://schemas.openxmlformats.org/drawingml/2006/main">
            <a:off x="609600" y="4953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Prototype walkthrough</a:t>
            </a:r>
          </a:p>
        </p:txBody>
      </p:sp>
      <p:sp>
        <p:nvSpPr>
          <p:cNvPr id="2" name="">
            <a:extLst xmlns:a="http://schemas.openxmlformats.org/drawingml/2006/main">
              <a:ext uri="{FF2B5EF4-FFF2-40B4-BE49-F238E27FC236}">
                <a16:creationId xmlns:a16="http://schemas.microsoft.com/office/drawing/2014/main" id="{DACB5E11-6805-43AB-B435-4E17FBB6DA93}"/>
              </a:ext>
            </a:extLst>
          </p:cNvPr>
          <p:cNvSpPr>
            <a:spLocks xmlns:a="http://schemas.openxmlformats.org/drawingml/2006/main" noGrp="1"/>
          </p:cNvSpPr>
          <p:nvPr/>
        </p:nvSpPr>
        <p:spPr>
          <a:xfrm xmlns:a="http://schemas.openxmlformats.org/drawingml/2006/main">
            <a:off x="10763250" y="6334125"/>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B7CDC9"/>
                </a:solidFill>
                <a:latin typeface="Arial"/>
                <a:ea typeface="Arial"/>
                <a:cs typeface="Arial"/>
              </a:defRPr>
            </a:defPPr>
          </a:lstStyle>
          <a:p xmlns:a="http://schemas.openxmlformats.org/drawingml/2006/main">
            <a:pPr>
              <a:defRPr sz="1200" b="0">
                <a:solidFill>
                  <a:srgbClr val="B7CDC9"/>
                </a:solidFill>
                <a:latin typeface="Arial"/>
                <a:ea typeface="Arial"/>
                <a:cs typeface="Arial"/>
              </a:defRPr>
            </a:pPr>
            <a:r>
              <a:rPr sz="1200" b="0">
                <a:solidFill>
                  <a:srgbClr val="B7CDC9"/>
                </a:solidFill>
                <a:latin typeface="Arial"/>
                <a:ea typeface="Arial"/>
                <a:cs typeface="Arial"/>
              </a:rPr>
              <a:t>8 / 8</a:t>
            </a:r>
          </a:p>
        </p:txBody>
      </p:sp>
      <p:sp>
        <p:nvSpPr>
          <p:cNvPr id="3" name="">
            <a:extLst xmlns:a="http://schemas.openxmlformats.org/drawingml/2006/main">
              <a:ext uri="{FF2B5EF4-FFF2-40B4-BE49-F238E27FC236}">
                <a16:creationId xmlns:a16="http://schemas.microsoft.com/office/drawing/2014/main" id="{79FF24E0-1FC3-4CAB-A802-341F1BD2CD8F}"/>
              </a:ext>
            </a:extLst>
          </p:cNvPr>
          <p:cNvSpPr>
            <a:spLocks xmlns:a="http://schemas.openxmlformats.org/drawingml/2006/main" noGrp="1"/>
          </p:cNvSpPr>
          <p:nvPr/>
        </p:nvSpPr>
        <p:spPr>
          <a:xfrm xmlns:a="http://schemas.openxmlformats.org/drawingml/2006/main">
            <a:off x="609600" y="2000250"/>
            <a:ext cx="104775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0">
                <a:solidFill>
                  <a:srgbClr val="D5E7E1"/>
                </a:solidFill>
                <a:latin typeface="Arial"/>
                <a:ea typeface="Arial"/>
                <a:cs typeface="Arial"/>
              </a:defRPr>
            </a:defPPr>
          </a:lstStyle>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Configuration and validation</a:t>
            </a:r>
          </a:p>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Actual model response</a:t>
            </a:r>
          </a:p>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Metrics and deployment evidence</a:t>
            </a:r>
          </a:p>
          <a:p xmlns:a="http://schemas.openxmlformats.org/drawingml/2006/main">
            <a:pPr>
              <a:defRPr sz="2775" b="0">
                <a:solidFill>
                  <a:srgbClr val="D5E7E1"/>
                </a:solidFill>
                <a:latin typeface="Arial"/>
                <a:ea typeface="Arial"/>
                <a:cs typeface="Arial"/>
              </a:defRPr>
            </a:pPr>
            <a:r>
              <a:rPr sz="2775" b="0">
                <a:solidFill>
                  <a:srgbClr val="D5E7E1"/>
                </a:solidFill>
                <a:latin typeface="Arial"/>
                <a:ea typeface="Arial"/>
                <a:cs typeface="Arial"/>
              </a:rPr>
              <a:t>Policy rejection and remaining work</a:t>
            </a:r>
          </a:p>
        </p:txBody>
      </p:sp>
      <p:sp>
        <p:nvSpPr>
          <p:cNvPr id="4" name="">
            <a:extLst xmlns:a="http://schemas.openxmlformats.org/drawingml/2006/main">
              <a:ext uri="{FF2B5EF4-FFF2-40B4-BE49-F238E27FC236}">
                <a16:creationId xmlns:a16="http://schemas.microsoft.com/office/drawing/2014/main" id="{E4672487-9013-4EE3-8DC0-61CA2CDE6D3F}"/>
              </a:ext>
            </a:extLst>
          </p:cNvPr>
          <p:cNvSpPr>
            <a:spLocks xmlns:a="http://schemas.openxmlformats.org/drawingml/2006/main" noGrp="1"/>
          </p:cNvSpPr>
          <p:nvPr/>
        </p:nvSpPr>
        <p:spPr>
          <a:xfrm xmlns:a="http://schemas.openxmlformats.org/drawingml/2006/main">
            <a:off x="609600" y="55435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FFFFFF"/>
                </a:solidFill>
                <a:latin typeface="Arial"/>
                <a:ea typeface="Arial"/>
                <a:cs typeface="Arial"/>
              </a:defRPr>
            </a:defPPr>
          </a:lstStyle>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github.com/johncobio/aiplatform</a:t>
            </a:r>
          </a:p>
        </p:txBody>
      </p:sp>
    </p:spTree>
    <p:extLst>
      <p:ext uri="{BB962C8B-B14F-4D97-AF65-F5344CB8AC3E}">
        <p14:creationId xmlns:p14="http://schemas.microsoft.com/office/powerpoint/2010/main" val="19215286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2026-10-16T01:22:10.3400000Z</dcterms:created>
  <dcterms:modified xsi:type="dcterms:W3CDTF">2026-10-16T01:22:10.3400000Z</dcterms:modified>
</coreProperties>
</file>